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2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2" Type="http://schemas.openxmlformats.org/officeDocument/2006/relationships/notesMaster" Target="notesMasters/notesMaster1.xml" /><Relationship Id="rId13" Type="http://schemas.openxmlformats.org/officeDocument/2006/relationships/presProps" Target="pres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Relationship Id="rId2" Type="http://schemas.openxmlformats.org/officeDocument/2006/relationships/image" Target="media/image7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'1280px', height: '720px', background: '#F5F9F6', position: 'relative', overflow: 'hidden' }}&gt;&#10;  &lt;Box style={{ position: 'absolute', top: 0, right: 0, width: 300, height: '100%', background: 'linear-gradient(160deg,#2E9E6F 0%,#6FD3A8 100%)' }} /&gt;&#10;  &lt;Box style={{ position: 'absolute', top: 90, right: 70, width: 130, height: 130, borderRadius: 999, background: 'rgba(255,255,255,0.16)' }} /&gt;&#10;  &lt;Box style={{ position: 'absolute', bottom: 110, right: 130, width: 76, height: 76, borderRadius: 999, background: 'rgba(255,255,255,0.12)' }} /&gt;&#10;&#10;  &lt;Box style={{ position: 'relative', zIndex: 1, height: '100%', padding: '72px 104px', flexDirection: 'column', justifyContent: 'center' }}&gt;&#10;    &lt;Text style={{ fontSize: 18, color: '#2E9E6F', fontWeight: '600', letterSpacing: 2, marginBottom: 16 }}&gt;给文科生看的 · 不烧脑说明书&lt;/Text&gt;&#10;    &lt;Text style={{ fontSize: 64, fontWeight: 'bold', color: '#1E2B24', lineHeight: 1.15, marginBottom: 24 }}&gt;&#10;      DEAR 功能页&lt;br /&gt;怎么摆？&#10;    &lt;/Text&gt;&#10;    &lt;Box style={{ width: 64, height: 6, background: '#2E9E6F', borderRadius: 3, marginBottom: 24 }} /&gt;&#10;    &lt;Text style={{ fontSize: 22, color: '#5E6E66', lineHeight: 1.7 }}&gt;&#10;      9 个功能页的分配逻辑&lt;br /&gt;3 种布局方案对比&lt;br /&gt;现在到底要不要大改&#10;    &lt;/Text&gt;&#10;    &lt;Box style={{ marginTop: 44, flexDirection: 'row', alignItems: 'center', gap: 14 }}&gt;&#10;      &lt;Box style={{ width: 38, height: 38, borderRadius: 999, background: '#2E9E6F', alignItems: 'center', justifyContent: 'center' }}&gt;&#10;        &lt;Text style={{ color: '#fff', fontSize: 18, fontWeight: 'bold' }}&gt;连&lt;/Text&gt;&#10;      &lt;/Box&gt;&#10;      &lt;Text style={{ fontSize: 16, color: '#5E6E66' }}&gt;镜音连 · 用大白话给你讲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9F6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9334500" y="0"/>
            <a:ext cx="2857500" cy="6858000"/>
          </a:xfrm>
          <a:prstGeom prst="rect">
            <a:avLst/>
          </a:prstGeom>
          <a:gradFill>
            <a:gsLst>
              <a:gs pos="0">
                <a:srgbClr val="2E9E6F"/>
              </a:gs>
              <a:gs pos="100000">
                <a:srgbClr val="6FD3A8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10287000" y="857250"/>
            <a:ext cx="1238250" cy="1238250"/>
          </a:xfrm>
          <a:prstGeom prst="roundRect">
            <a:avLst>
              <a:gd name="adj" fmla="val 768462"/>
            </a:avLst>
          </a:prstGeom>
          <a:solidFill>
            <a:srgbClr val="FFFFFF">
              <a:alpha val="16000"/>
            </a:srgbClr>
          </a:soli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10229850" y="5086350"/>
            <a:ext cx="723900" cy="723900"/>
          </a:xfrm>
          <a:prstGeom prst="roundRect">
            <a:avLst>
              <a:gd name="adj" fmla="val 1314474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990600" y="1114425"/>
            <a:ext cx="10210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 spc="150">
                <a:solidFill>
                  <a:srgbClr val="2E9E6F"/>
                </a:solidFill>
                <a:latin typeface="Microsoft YaHei"/>
                <a:ea typeface="Microsoft YaHei"/>
              </a:rPr>
              <a:t>给文科生看的</a:t>
            </a:r>
            <a:r>
              <a:rPr lang="en-US" sz="1350" b="1" spc="150">
                <a:solidFill>
                  <a:srgbClr val="2E9E6F"/>
                </a:solidFill>
                <a:latin typeface="Microsoft YaHei"/>
                <a:ea typeface="Microsoft YaHei"/>
              </a:rPr>
              <a:t> · </a:t>
            </a:r>
            <a:r>
              <a:rPr lang="zh-CN" sz="1350" b="1" spc="150">
                <a:solidFill>
                  <a:srgbClr val="2E9E6F"/>
                </a:solidFill>
                <a:latin typeface="Microsoft YaHei"/>
                <a:ea typeface="Microsoft YaHei"/>
              </a:rPr>
              <a:t>不烧脑说明书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990600" y="1476375"/>
            <a:ext cx="10210800" cy="16859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800" b="1">
                <a:solidFill>
                  <a:srgbClr val="1E2B24"/>
                </a:solidFill>
                <a:latin typeface="Microsoft YaHei"/>
                <a:ea typeface="Microsoft YaHei"/>
              </a:rPr>
              <a:t>DEAR </a:t>
            </a:r>
            <a:r>
              <a:rPr lang="zh-CN" sz="4800" b="1">
                <a:solidFill>
                  <a:srgbClr val="1E2B24"/>
                </a:solidFill>
                <a:latin typeface="Microsoft YaHei"/>
                <a:ea typeface="Microsoft YaHei"/>
              </a:rPr>
              <a:t>功能页</a:t>
            </a:r>
            <a:endParaRPr/>
          </a:p>
          <a:p>
            <a:pPr>
              <a:lnSpc>
                <a:spcPct val="114999"/>
              </a:lnSpc>
            </a:pPr>
            <a:r>
              <a:rPr lang="zh-CN" sz="4800" b="1">
                <a:solidFill>
                  <a:srgbClr val="1E2B24"/>
                </a:solidFill>
                <a:latin typeface="Microsoft YaHei"/>
                <a:ea typeface="Microsoft YaHei"/>
              </a:rPr>
              <a:t>怎么摆？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990600" y="3390900"/>
            <a:ext cx="609600" cy="57150"/>
          </a:xfrm>
          <a:prstGeom prst="roundRect">
            <a:avLst>
              <a:gd name="adj" fmla="val 50000"/>
            </a:avLst>
          </a:prstGeom>
          <a:solidFill>
            <a:srgbClr val="2E9E6F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990600" y="3676650"/>
            <a:ext cx="10210800" cy="12858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650">
                <a:solidFill>
                  <a:srgbClr val="5E6E66"/>
                </a:solidFill>
                <a:latin typeface="Microsoft YaHei"/>
                <a:ea typeface="Microsoft YaHei"/>
              </a:rPr>
              <a:t>9 </a:t>
            </a:r>
            <a:r>
              <a:rPr lang="zh-CN" sz="1650">
                <a:solidFill>
                  <a:srgbClr val="5E6E66"/>
                </a:solidFill>
                <a:latin typeface="Microsoft YaHei"/>
                <a:ea typeface="Microsoft YaHei"/>
              </a:rPr>
              <a:t>个功能页的分配逻辑</a:t>
            </a:r>
            <a:endParaRPr/>
          </a:p>
          <a:p>
            <a:pPr>
              <a:lnSpc>
                <a:spcPct val="170000"/>
              </a:lnSpc>
            </a:pPr>
            <a:r>
              <a:rPr lang="en-US" sz="1650">
                <a:solidFill>
                  <a:srgbClr val="5E6E66"/>
                </a:solidFill>
                <a:latin typeface="Microsoft YaHei"/>
                <a:ea typeface="Microsoft YaHei"/>
              </a:rPr>
              <a:t>3 </a:t>
            </a:r>
            <a:r>
              <a:rPr lang="zh-CN" sz="1650">
                <a:solidFill>
                  <a:srgbClr val="5E6E66"/>
                </a:solidFill>
                <a:latin typeface="Microsoft YaHei"/>
                <a:ea typeface="Microsoft YaHei"/>
              </a:rPr>
              <a:t>种布局方案对比</a:t>
            </a:r>
            <a:endParaRPr/>
          </a:p>
          <a:p>
            <a:pPr>
              <a:lnSpc>
                <a:spcPct val="170000"/>
              </a:lnSpc>
            </a:pPr>
            <a:r>
              <a:rPr lang="zh-CN" sz="1650">
                <a:solidFill>
                  <a:srgbClr val="5E6E66"/>
                </a:solidFill>
                <a:latin typeface="Microsoft YaHei"/>
                <a:ea typeface="Microsoft YaHei"/>
              </a:rPr>
              <a:t>现在到底要不要大改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990600" y="5381625"/>
            <a:ext cx="361950" cy="361950"/>
          </a:xfrm>
          <a:prstGeom prst="roundRect">
            <a:avLst>
              <a:gd name="adj" fmla="val 2628947"/>
            </a:avLst>
          </a:prstGeom>
          <a:solidFill>
            <a:srgbClr val="2E9E6F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1085850" y="545782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连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1485900" y="5467350"/>
            <a:ext cx="1657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E6E66"/>
                </a:solidFill>
                <a:latin typeface="Microsoft YaHei"/>
                <a:ea typeface="Microsoft YaHei"/>
              </a:rPr>
              <a:t>镜音连</a:t>
            </a:r>
            <a:r>
              <a:rPr lang="en-US" sz="1200">
                <a:solidFill>
                  <a:srgbClr val="5E6E66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5E6E66"/>
                </a:solidFill>
                <a:latin typeface="Microsoft YaHei"/>
                <a:ea typeface="Microsoft YaHei"/>
              </a:rPr>
              <a:t>用大白话给你讲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81" name="" descr="&lt;Slide style={{ width: '1280px', height: '720px', background: '#F5F9F6' }}&gt;&#10;  &lt;Box style={{ height: '100%', flexDirection: 'column' }}&gt;&#10;    &lt;Box style={{ height: 110, padding: '26px 72px 0', justifyContent: 'flex-end' }}&gt;&#10;      &lt;Text style={{ fontSize: 14, color: '#2E9E6F', fontWeight: '600', letterSpacing: 1 }}&gt;先搞懂一件事&lt;/Text&gt;&#10;      &lt;Text style={{ fontSize: 34, fontWeight: 'bold', color: '#1E2B24' }}&gt;一句话说清：DEAR 是什么&lt;/Text&gt;&#10;    &lt;/Box&gt;&#10;&#10;    &lt;Box style={{ height: 540, padding: '16px 72px', flexDirection: 'row', gap: 48, alignItems: 'center' }}&gt;&#10;      &lt;Box style={{ flex: 1, flexDirection: 'column', gap: 16 }}&gt;&#10;        &lt;Text style={{ fontSize: 20, color: '#1E2B24', lineHeight: 1.7 }}&gt;&#10;          DEAR 是&lt;span style={{ color: '#2E9E6F', fontWeight: 'bold' }}&gt;你自己的 AI 驾驶舱&lt;/span&gt;——不是别人的客户端，是你按自己喜好重新搭的壳。&#10;        &lt;/Text&gt;&#10;        &lt;Box style={{ flexDirection: 'row', gap: 12, alignItems: 'flex-start' }}&gt;&#10;          &lt;Box style={{ width: 8, height: 8, borderRadius: 999, background: '#2E9E6F', marginTop: 10 }} /&gt;&#10;          &lt;Text style={{ fontSize: 19, color: '#5E6E66', lineHeight: 1.6 }}&gt;手机优先：先为一加 12 这种手机设计，电脑只是「放大版」。&lt;/Text&gt;&#10;        &lt;/Box&gt;&#10;        &lt;Box style={{ flexDirection: 'row', gap: 12, alignItems: 'flex-start' }}&gt;&#10;          &lt;Box style={{ width: 8, height: 8, borderRadius: 999, background: '#2E9E6F', marginTop: 10 }} /&gt;&#10;          &lt;Text style={{ fontSize: 19, color: '#5E6E66', lineHeight: 1.6 }}&gt;&lt;span style={{ color: '#1E2B24', fontWeight: 'bold' }}&gt;聊天是「家」&lt;/span&gt;：打开就在聊天，它是永远在的那一页。&lt;/Text&gt;&#10;        &lt;/Box&gt;&#10;        &lt;Box style={{ flexDirection: 'row', gap: 12, alignItems: 'flex-start' }}&gt;&#10;          &lt;Box style={{ width: 8, height: 8, borderRadius: 999, background: '#2E9E6F', marginTop: 10 }} /&gt;&#10;          &lt;Text style={{ fontSize: 19, color: '#5E6E66', lineHeight: 1.6 }}&gt;其它功能都是&lt;span style={{ color: '#2E9E6F', fontWeight: 'bold' }}&gt;浮在聊天上的小窗&lt;/span&gt;，掀开用、关掉就回家。&lt;/Text&gt;&#10;        &lt;/Box&gt;&#10;        &lt;Box style={{ flexDirection: 'row', gap: 12, alignItems: 'flex-start' }}&gt;&#10;          &lt;Box style={{ width: 8, height: 8, borderRadius: 999, background: '#2E9E6F', marginTop: 10 }} /&gt;&#10;          &lt;Text style={{ fontSize: 19, color: '#5E6E66', lineHeight: 1.6 }}&gt;背后的能力（模型、连接、记忆）是接进来的，不用你管。&lt;/Text&gt;&#10;        &lt;/Box&gt;&#10;      &lt;/Box&gt;&#10;&#10;      &lt;Box style={{ width: 300, alignItems: 'center', gap: 16 }}&gt;&#10;        &lt;svg width={240} height={470} viewBox='0 0 260 500'&gt;&#10;          &lt;rect x='10' y='10' width='240' height='480' rx='34' fill='#E3EFE8' stroke='#CFE0D6' strokeWidth='2' /&gt;&#10;          &lt;rect x='22' y='26' width='216' height='432' rx='20' fill='#F5F9F6' /&gt;&#10;          &lt;rect x='22' y='26' width='216' height='42' rx='20' fill='#2E9E6F' /&gt;&#10;          &lt;rect x='40' y='96' width='130' height='46' rx='14' fill='#E3EFE8' /&gt;&#10;          &lt;rect x='108' y='158' width='118' height='42' rx='14' fill='#2E9E6F' opacity='0.18' /&gt;&#10;          &lt;rect x='40' y='216' width='150' height='46' rx='14' fill='#E3EFE8' /&gt;&#10;          &lt;rect x='40' y='408' width='180' height='38' rx='19' fill='#FFFFFF' stroke='#CFE0D6' strokeWidth='2' /&gt;&#10;        &lt;/svg&gt;&#10;        &lt;Box style={{ padding: '8px 18px', background: '#2E9E6F', borderRadius: 999 }}&gt;&#10;          &lt;Text style={{ fontSize: 16, color: '#fff', fontWeight: 'bold' }}&gt;聊天 = 家，永远在&lt;/Text&gt;&#10;        &lt;/Box&gt;&#10;      &lt;/Box&gt;&#10;    &lt;/Box&gt;&#10;&#10;    &lt;Box style={{ height: 60, padding: '0 72px', flexDirection: 'row', justifyContent: 'space-between', alignItems: 'center' }}&gt;&#10;      &lt;Text style={{ fontSize: 14, color: '#5E6E66' }}&gt;DEAR 功能页布局方案&lt;/Text&gt;&#10;      &lt;Text style={{ fontSize: 14, color: '#5E6E66' }}&gt;02 / 11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9F6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685800" y="495300"/>
            <a:ext cx="1082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2E9E6F"/>
                </a:solidFill>
                <a:latin typeface="Microsoft YaHei"/>
                <a:ea typeface="Microsoft YaHei"/>
              </a:rPr>
              <a:t>先搞懂一件事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685800" y="657225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2B24"/>
                </a:solidFill>
                <a:latin typeface="Microsoft YaHei"/>
                <a:ea typeface="Microsoft YaHei"/>
              </a:rPr>
              <a:t>一句话说清：</a:t>
            </a:r>
            <a:r>
              <a:rPr lang="en-US" sz="2550" b="1">
                <a:solidFill>
                  <a:srgbClr val="1E2B24"/>
                </a:solidFill>
                <a:latin typeface="Microsoft YaHei"/>
                <a:ea typeface="Microsoft YaHei"/>
              </a:rPr>
              <a:t>DEAR </a:t>
            </a:r>
            <a:r>
              <a:rPr lang="zh-CN" sz="2550" b="1">
                <a:solidFill>
                  <a:srgbClr val="1E2B24"/>
                </a:solidFill>
                <a:latin typeface="Microsoft YaHei"/>
                <a:ea typeface="Microsoft YaHei"/>
              </a:rPr>
              <a:t>是什么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685800" y="2419350"/>
            <a:ext cx="7505700" cy="3905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500">
                <a:solidFill>
                  <a:srgbClr val="1E2B24"/>
                </a:solidFill>
                <a:latin typeface="Microsoft YaHei"/>
                <a:ea typeface="Microsoft YaHei"/>
              </a:rPr>
              <a:t>DEAR </a:t>
            </a:r>
            <a:r>
              <a:rPr lang="zh-CN" sz="1500">
                <a:solidFill>
                  <a:srgbClr val="1E2B24"/>
                </a:solidFill>
                <a:latin typeface="Microsoft YaHei"/>
                <a:ea typeface="Microsoft YaHei"/>
              </a:rPr>
              <a:t>是</a:t>
            </a:r>
            <a:r>
              <a:rPr lang="zh-CN" sz="1500" b="1">
                <a:solidFill>
                  <a:srgbClr val="2E9E6F"/>
                </a:solidFill>
                <a:latin typeface="Microsoft YaHei"/>
                <a:ea typeface="Microsoft YaHei"/>
              </a:rPr>
              <a:t>你自己的</a:t>
            </a:r>
            <a:r>
              <a:rPr lang="en-US" sz="1500" b="1">
                <a:solidFill>
                  <a:srgbClr val="2E9E6F"/>
                </a:solidFill>
                <a:latin typeface="Microsoft YaHei"/>
                <a:ea typeface="Microsoft YaHei"/>
              </a:rPr>
              <a:t> AI </a:t>
            </a:r>
            <a:r>
              <a:rPr lang="zh-CN" sz="1500" b="1">
                <a:solidFill>
                  <a:srgbClr val="2E9E6F"/>
                </a:solidFill>
                <a:latin typeface="Microsoft YaHei"/>
                <a:ea typeface="Microsoft YaHei"/>
              </a:rPr>
              <a:t>驾驶舱</a:t>
            </a:r>
            <a:r>
              <a:rPr lang="zh-CN" sz="1500">
                <a:solidFill>
                  <a:srgbClr val="1E2B24"/>
                </a:solidFill>
                <a:latin typeface="Microsoft YaHei"/>
                <a:ea typeface="Microsoft YaHei"/>
              </a:rPr>
              <a:t>——不是别人的客户端，是你按自己喜好重新搭的壳。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685800" y="3057525"/>
            <a:ext cx="76200" cy="76200"/>
          </a:xfrm>
          <a:prstGeom prst="roundRect">
            <a:avLst>
              <a:gd name="adj" fmla="val 12487500"/>
            </a:avLst>
          </a:prstGeom>
          <a:solidFill>
            <a:srgbClr val="2E9E6F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76300" y="2962275"/>
            <a:ext cx="50292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5E6E66"/>
                </a:solidFill>
                <a:latin typeface="Microsoft YaHei"/>
                <a:ea typeface="Microsoft YaHei"/>
              </a:rPr>
              <a:t>手机优先：先为一加</a:t>
            </a:r>
            <a:r>
              <a:rPr lang="en-US" sz="1425">
                <a:solidFill>
                  <a:srgbClr val="5E6E66"/>
                </a:solidFill>
                <a:latin typeface="Microsoft YaHei"/>
                <a:ea typeface="Microsoft YaHei"/>
              </a:rPr>
              <a:t> 12 </a:t>
            </a:r>
            <a:r>
              <a:rPr lang="zh-CN" sz="1425">
                <a:solidFill>
                  <a:srgbClr val="5E6E66"/>
                </a:solidFill>
                <a:latin typeface="Microsoft YaHei"/>
                <a:ea typeface="Microsoft YaHei"/>
              </a:rPr>
              <a:t>这种手机设计，电脑只是「放大版」。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685800" y="3562350"/>
            <a:ext cx="76200" cy="76200"/>
          </a:xfrm>
          <a:prstGeom prst="roundRect">
            <a:avLst>
              <a:gd name="adj" fmla="val 12487500"/>
            </a:avLst>
          </a:prstGeom>
          <a:solidFill>
            <a:srgbClr val="2E9E6F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876300" y="3467100"/>
            <a:ext cx="43434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 b="1">
                <a:solidFill>
                  <a:srgbClr val="1E2B24"/>
                </a:solidFill>
                <a:latin typeface="Microsoft YaHei"/>
                <a:ea typeface="Microsoft YaHei"/>
              </a:rPr>
              <a:t>聊天是「家」</a:t>
            </a:r>
            <a:r>
              <a:rPr lang="zh-CN" sz="1425">
                <a:solidFill>
                  <a:srgbClr val="5E6E66"/>
                </a:solidFill>
                <a:latin typeface="Microsoft YaHei"/>
                <a:ea typeface="Microsoft YaHei"/>
              </a:rPr>
              <a:t>：打开就在聊天，它是永远在的那一页。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685800" y="4067175"/>
            <a:ext cx="76200" cy="76200"/>
          </a:xfrm>
          <a:prstGeom prst="roundRect">
            <a:avLst>
              <a:gd name="adj" fmla="val 12487500"/>
            </a:avLst>
          </a:prstGeom>
          <a:solidFill>
            <a:srgbClr val="2E9E6F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876300" y="3971925"/>
            <a:ext cx="4524375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5E6E66"/>
                </a:solidFill>
                <a:latin typeface="Microsoft YaHei"/>
                <a:ea typeface="Microsoft YaHei"/>
              </a:rPr>
              <a:t>其它功能都是</a:t>
            </a:r>
            <a:r>
              <a:rPr lang="zh-CN" sz="1425" b="1">
                <a:solidFill>
                  <a:srgbClr val="2E9E6F"/>
                </a:solidFill>
                <a:latin typeface="Microsoft YaHei"/>
                <a:ea typeface="Microsoft YaHei"/>
              </a:rPr>
              <a:t>浮在聊天上的小窗</a:t>
            </a:r>
            <a:r>
              <a:rPr lang="zh-CN" sz="1425">
                <a:solidFill>
                  <a:srgbClr val="5E6E66"/>
                </a:solidFill>
                <a:latin typeface="Microsoft YaHei"/>
                <a:ea typeface="Microsoft YaHei"/>
              </a:rPr>
              <a:t>，掀开用、关掉就回家。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685800" y="4572000"/>
            <a:ext cx="76200" cy="76200"/>
          </a:xfrm>
          <a:prstGeom prst="roundRect">
            <a:avLst>
              <a:gd name="adj" fmla="val 12487500"/>
            </a:avLst>
          </a:prstGeom>
          <a:solidFill>
            <a:srgbClr val="2E9E6F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876300" y="4476750"/>
            <a:ext cx="470535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5E6E66"/>
                </a:solidFill>
                <a:latin typeface="Microsoft YaHei"/>
                <a:ea typeface="Microsoft YaHei"/>
              </a:rPr>
              <a:t>背后的能力（模型、连接、记忆）是接进来的，不用你管。</a:t>
            </a:r>
            <a:endParaRPr/>
          </a:p>
        </p:txBody>
      </p:sp>
      <p:pic>
        <p:nvPicPr>
          <p:cNvPr id="9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934450" y="1133475"/>
            <a:ext cx="2286000" cy="4476750"/>
          </a:xfrm>
          <a:prstGeom prst="rect">
            <a:avLst/>
          </a:prstGeom>
          <a:ln/>
        </p:spPr>
      </p:pic>
      <p:sp>
        <p:nvSpPr>
          <p:cNvPr id="95" name=""/>
          <p:cNvSpPr/>
          <p:nvPr/>
        </p:nvSpPr>
        <p:spPr>
          <a:xfrm rot="0" flipH="0" flipV="0">
            <a:off x="9267825" y="5762625"/>
            <a:ext cx="1619250" cy="342900"/>
          </a:xfrm>
          <a:prstGeom prst="roundRect">
            <a:avLst>
              <a:gd name="adj" fmla="val 2775000"/>
            </a:avLst>
          </a:prstGeom>
          <a:solidFill>
            <a:srgbClr val="2E9E6F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9439275" y="5838825"/>
            <a:ext cx="1276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聊天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 =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家，永远在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85800" y="640080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6E66"/>
                </a:solidFill>
                <a:latin typeface="Microsoft YaHei"/>
                <a:ea typeface="Microsoft YaHei"/>
              </a:rPr>
              <a:t>DEAR </a:t>
            </a:r>
            <a:r>
              <a:rPr lang="zh-CN" sz="1050">
                <a:solidFill>
                  <a:srgbClr val="5E6E66"/>
                </a:solidFill>
                <a:latin typeface="Microsoft YaHei"/>
                <a:ea typeface="Microsoft YaHei"/>
              </a:rPr>
              <a:t>功能页布局方案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10490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6E66"/>
                </a:solidFill>
                <a:latin typeface="Microsoft YaHei"/>
                <a:ea typeface="Microsoft YaHei"/>
              </a:rPr>
              <a:t>02 / 11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99" name="" descr="&lt;Slide style={{ width: '1280px', height: '720px', background: '#F5F9F6' }}&gt;&#10;  {(() =&gt; {&#10;    const items = [&#10;      { n: '人格', d: '给 AI 定「人设」：它叫什么、什么性格、怎么跟你说话。' },&#10;      { n: '技能', d: 'AI 的「拿手好戏」清单：写代码、查资料、做图……（接进来的能力）。' },&#10;      { n: 'MCP', d: '给 AI 接外挂的「插头」：连日历、连数据库都靠它。' },&#10;      { n: '日记', d: '你随手记的事，按时间排好，AI 也能读。' },&#10;      { n: '系统', d: '控制面板：选哪个模型、开多大权限、连得通不通。' },&#10;      { n: '记忆', d: 'AI 记住你的事：偏好、习惯、说过的话，跨次都在。' },&#10;      { n: '日历', d: '你的日程表，AI 能看、能提醒。' },&#10;      { n: '周期', d: '记录身体节奏（如生理周期），做趋势回顾。' },&#10;      { n: '数据', d: '把记下的东西汇成图表，一眼看趋势。' },&#10;    ];&#10;    const cell = (it) =&gt; (&#10;      &lt;Box style={{ flex: 1, flexDirection: 'column', background: '#E3EFE8', borderRadius: 14, padding: '16px 18px' }}&gt;&#10;        &lt;Box style={{ flexDirection: 'row', alignItems: 'center', gap: 8 }}&gt;&#10;          &lt;Box style={{ width: 10, height: 10, borderRadius: 999, background: '#2E9E6F' }} /&gt;&#10;          &lt;Text style={{ fontSize: 21, fontWeight: 'bold', color: '#1E2B24' }}&gt;{it.n}&lt;/Text&gt;&#10;        &lt;/Box&gt;&#10;        &lt;Text style={{ fontSize: 15, color: '#5E6E66', lineHeight: 1.55, marginTop: 10 }}&gt;{it.d}&lt;/Text&gt;&#10;      &lt;/Box&gt;&#10;    );&#10;    return (&#10;      &lt;Box style={{ height: '100%', flexDirection: 'column' }}&gt;&#10;        &lt;Box style={{ height: 110, padding: '26px 72px 0', justifyContent: 'flex-end' }}&gt;&#10;          &lt;Text style={{ fontSize: 14, color: '#2E9E6F', fontWeight: '600', letterSpacing: 1 }}&gt;9 个功能页，都是谁&lt;/Text&gt;&#10;          &lt;Text style={{ fontSize: 34, fontWeight: 'bold', color: '#1E2B24' }}&gt;用大白话翻译一遍&lt;/Text&gt;&#10;        &lt;/Box&gt;&#10;&#10;        &lt;Box style={{ height: 540, padding: '18px 72px', flexDirection: 'column', gap: 14 }}&gt;&#10;          &lt;Box style={{ flex: 1, flexDirection: 'row', gap: 14 }}&gt;{cell(items[0])}{cell(items[1])}{cell(items[2])}&lt;/Box&gt;&#10;          &lt;Box style={{ flex: 1, flexDirection: 'row', gap: 14 }}&gt;{cell(items[3])}{cell(items[4])}{cell(items[5])}&lt;/Box&gt;&#10;          &lt;Box style={{ flex: 1, flexDirection: 'row', gap: 14 }}&gt;{cell(items[6])}{cell(items[7])}{cell(items[8])}&lt;/Box&gt;&#10;        &lt;/Box&gt;&#10;&#10;        &lt;Box style={{ height: 60, padding: '0 72px', flexDirection: 'row', justifyContent: 'space-between', alignItems: 'center' }}&gt;&#10;          &lt;Text style={{ fontSize: 14, color: '#5E6E66' }}&gt;DEAR 功能页布局方案&lt;/Text&gt;&#10;          &lt;Text style={{ fontSize: 14, color: '#5E6E66' }}&gt;03 / 11&lt;/Text&gt;&#10;        &lt;/Box&gt;&#10;      &lt;/Box&gt;&#10;    );&#10;  })()}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9F6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685800" y="495300"/>
            <a:ext cx="1082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75">
                <a:solidFill>
                  <a:srgbClr val="2E9E6F"/>
                </a:solidFill>
                <a:latin typeface="Microsoft YaHei"/>
                <a:ea typeface="Microsoft YaHei"/>
              </a:rPr>
              <a:t>9 </a:t>
            </a:r>
            <a:r>
              <a:rPr lang="zh-CN" sz="1050" b="1" spc="75">
                <a:solidFill>
                  <a:srgbClr val="2E9E6F"/>
                </a:solidFill>
                <a:latin typeface="Microsoft YaHei"/>
                <a:ea typeface="Microsoft YaHei"/>
              </a:rPr>
              <a:t>个功能页，都是谁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685800" y="657225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2B24"/>
                </a:solidFill>
                <a:latin typeface="Microsoft YaHei"/>
                <a:ea typeface="Microsoft YaHei"/>
              </a:rPr>
              <a:t>用大白话翻译一遍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685800" y="1219200"/>
            <a:ext cx="3514725" cy="1600200"/>
          </a:xfrm>
          <a:prstGeom prst="roundRect">
            <a:avLst>
              <a:gd name="adj" fmla="val 8333"/>
            </a:avLst>
          </a:prstGeom>
          <a:solidFill>
            <a:srgbClr val="E3EFE8"/>
          </a:solidFill>
          <a:ln/>
        </p:spPr>
        <p:txBody>
          <a:bodyPr/>
          <a:p/>
        </p:txBody>
      </p:sp>
      <p:sp>
        <p:nvSpPr>
          <p:cNvPr id="104" name=""/>
          <p:cNvSpPr/>
          <p:nvPr/>
        </p:nvSpPr>
        <p:spPr>
          <a:xfrm rot="0" flipH="0" flipV="0">
            <a:off x="857250" y="1447800"/>
            <a:ext cx="95250" cy="95250"/>
          </a:xfrm>
          <a:prstGeom prst="roundRect">
            <a:avLst>
              <a:gd name="adj" fmla="val 9990000"/>
            </a:avLst>
          </a:prstGeom>
          <a:solidFill>
            <a:srgbClr val="2E9E6F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028700" y="1371600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2B24"/>
                </a:solidFill>
                <a:latin typeface="Microsoft YaHei"/>
                <a:ea typeface="Microsoft YaHei"/>
              </a:rPr>
              <a:t>人格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857250" y="1714500"/>
            <a:ext cx="31718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E6E66"/>
                </a:solidFill>
                <a:latin typeface="Microsoft YaHei"/>
                <a:ea typeface="Microsoft YaHei"/>
              </a:rPr>
              <a:t>给</a:t>
            </a:r>
            <a:r>
              <a:rPr lang="en-US" sz="1125">
                <a:solidFill>
                  <a:srgbClr val="5E6E66"/>
                </a:solidFill>
                <a:latin typeface="Microsoft YaHei"/>
                <a:ea typeface="Microsoft YaHei"/>
              </a:rPr>
              <a:t> AI </a:t>
            </a:r>
            <a:r>
              <a:rPr lang="zh-CN" sz="1125">
                <a:solidFill>
                  <a:srgbClr val="5E6E66"/>
                </a:solidFill>
                <a:latin typeface="Microsoft YaHei"/>
                <a:ea typeface="Microsoft YaHei"/>
              </a:rPr>
              <a:t>定「人设」：它叫什么、什么性格、怎么跟你说话。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4333875" y="1219200"/>
            <a:ext cx="3524250" cy="1600200"/>
          </a:xfrm>
          <a:prstGeom prst="roundRect">
            <a:avLst>
              <a:gd name="adj" fmla="val 8333"/>
            </a:avLst>
          </a:prstGeom>
          <a:solidFill>
            <a:srgbClr val="E3EFE8"/>
          </a:solidFill>
          <a:ln/>
        </p:spPr>
        <p:txBody>
          <a:bodyPr/>
          <a:p/>
        </p:txBody>
      </p:sp>
      <p:sp>
        <p:nvSpPr>
          <p:cNvPr id="108" name=""/>
          <p:cNvSpPr/>
          <p:nvPr/>
        </p:nvSpPr>
        <p:spPr>
          <a:xfrm rot="0" flipH="0" flipV="0">
            <a:off x="4505325" y="1447800"/>
            <a:ext cx="95250" cy="95250"/>
          </a:xfrm>
          <a:prstGeom prst="roundRect">
            <a:avLst>
              <a:gd name="adj" fmla="val 9990000"/>
            </a:avLst>
          </a:prstGeom>
          <a:solidFill>
            <a:srgbClr val="2E9E6F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4676775" y="1371600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2B24"/>
                </a:solidFill>
                <a:latin typeface="Microsoft YaHei"/>
                <a:ea typeface="Microsoft YaHei"/>
              </a:rPr>
              <a:t>技能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4505325" y="1714500"/>
            <a:ext cx="31813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125">
                <a:solidFill>
                  <a:srgbClr val="5E6E66"/>
                </a:solidFill>
                <a:latin typeface="Microsoft YaHei"/>
                <a:ea typeface="Microsoft YaHei"/>
              </a:rPr>
              <a:t>AI </a:t>
            </a:r>
            <a:r>
              <a:rPr lang="zh-CN" sz="1125">
                <a:solidFill>
                  <a:srgbClr val="5E6E66"/>
                </a:solidFill>
                <a:latin typeface="Microsoft YaHei"/>
                <a:ea typeface="Microsoft YaHei"/>
              </a:rPr>
              <a:t>的「拿手好戏」清单：写代码、查资料、做图……（接进来的能力）。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7991475" y="1219200"/>
            <a:ext cx="3514725" cy="1600200"/>
          </a:xfrm>
          <a:prstGeom prst="roundRect">
            <a:avLst>
              <a:gd name="adj" fmla="val 8333"/>
            </a:avLst>
          </a:prstGeom>
          <a:solidFill>
            <a:srgbClr val="E3EFE8"/>
          </a:solidFill>
          <a:ln/>
        </p:spPr>
        <p:txBody>
          <a:bodyPr/>
          <a:p/>
        </p:txBody>
      </p:sp>
      <p:sp>
        <p:nvSpPr>
          <p:cNvPr id="112" name=""/>
          <p:cNvSpPr/>
          <p:nvPr/>
        </p:nvSpPr>
        <p:spPr>
          <a:xfrm rot="0" flipH="0" flipV="0">
            <a:off x="8162925" y="1447800"/>
            <a:ext cx="95250" cy="95250"/>
          </a:xfrm>
          <a:prstGeom prst="roundRect">
            <a:avLst>
              <a:gd name="adj" fmla="val 9990000"/>
            </a:avLst>
          </a:prstGeom>
          <a:solidFill>
            <a:srgbClr val="2E9E6F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8334375" y="1371600"/>
            <a:ext cx="476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E2B24"/>
                </a:solidFill>
                <a:latin typeface="Microsoft YaHei"/>
                <a:ea typeface="Microsoft YaHei"/>
              </a:rPr>
              <a:t>MCP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8162925" y="1714500"/>
            <a:ext cx="31718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E6E66"/>
                </a:solidFill>
                <a:latin typeface="Microsoft YaHei"/>
                <a:ea typeface="Microsoft YaHei"/>
              </a:rPr>
              <a:t>给</a:t>
            </a:r>
            <a:r>
              <a:rPr lang="en-US" sz="1125">
                <a:solidFill>
                  <a:srgbClr val="5E6E66"/>
                </a:solidFill>
                <a:latin typeface="Microsoft YaHei"/>
                <a:ea typeface="Microsoft YaHei"/>
              </a:rPr>
              <a:t> AI </a:t>
            </a:r>
            <a:r>
              <a:rPr lang="zh-CN" sz="1125">
                <a:solidFill>
                  <a:srgbClr val="5E6E66"/>
                </a:solidFill>
                <a:latin typeface="Microsoft YaHei"/>
                <a:ea typeface="Microsoft YaHei"/>
              </a:rPr>
              <a:t>接外挂的「插头」：连日历、连数据库都靠它。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685800" y="2952750"/>
            <a:ext cx="3514725" cy="1600200"/>
          </a:xfrm>
          <a:prstGeom prst="roundRect">
            <a:avLst>
              <a:gd name="adj" fmla="val 8333"/>
            </a:avLst>
          </a:prstGeom>
          <a:solidFill>
            <a:srgbClr val="E3EFE8"/>
          </a:solidFill>
          <a:ln/>
        </p:spPr>
        <p:txBody>
          <a:bodyPr/>
          <a:p/>
        </p:txBody>
      </p:sp>
      <p:sp>
        <p:nvSpPr>
          <p:cNvPr id="116" name=""/>
          <p:cNvSpPr/>
          <p:nvPr/>
        </p:nvSpPr>
        <p:spPr>
          <a:xfrm rot="0" flipH="0" flipV="0">
            <a:off x="857250" y="3181350"/>
            <a:ext cx="95250" cy="95250"/>
          </a:xfrm>
          <a:prstGeom prst="roundRect">
            <a:avLst>
              <a:gd name="adj" fmla="val 9990000"/>
            </a:avLst>
          </a:prstGeom>
          <a:solidFill>
            <a:srgbClr val="2E9E6F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028700" y="3105150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2B24"/>
                </a:solidFill>
                <a:latin typeface="Microsoft YaHei"/>
                <a:ea typeface="Microsoft YaHei"/>
              </a:rPr>
              <a:t>日记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857250" y="3448050"/>
            <a:ext cx="317182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E6E66"/>
                </a:solidFill>
                <a:latin typeface="Microsoft YaHei"/>
                <a:ea typeface="Microsoft YaHei"/>
              </a:rPr>
              <a:t>你随手记的事，按时间排好，</a:t>
            </a:r>
            <a:r>
              <a:rPr lang="en-US" sz="1125">
                <a:solidFill>
                  <a:srgbClr val="5E6E66"/>
                </a:solidFill>
                <a:latin typeface="Microsoft YaHei"/>
                <a:ea typeface="Microsoft YaHei"/>
              </a:rPr>
              <a:t>AI </a:t>
            </a:r>
            <a:r>
              <a:rPr lang="zh-CN" sz="1125">
                <a:solidFill>
                  <a:srgbClr val="5E6E66"/>
                </a:solidFill>
                <a:latin typeface="Microsoft YaHei"/>
                <a:ea typeface="Microsoft YaHei"/>
              </a:rPr>
              <a:t>也能读。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4333875" y="2952750"/>
            <a:ext cx="3524250" cy="1600200"/>
          </a:xfrm>
          <a:prstGeom prst="roundRect">
            <a:avLst>
              <a:gd name="adj" fmla="val 8333"/>
            </a:avLst>
          </a:prstGeom>
          <a:solidFill>
            <a:srgbClr val="E3EFE8"/>
          </a:solidFill>
          <a:ln/>
        </p:spPr>
        <p:txBody>
          <a:bodyPr/>
          <a:p/>
        </p:txBody>
      </p:sp>
      <p:sp>
        <p:nvSpPr>
          <p:cNvPr id="120" name=""/>
          <p:cNvSpPr/>
          <p:nvPr/>
        </p:nvSpPr>
        <p:spPr>
          <a:xfrm rot="0" flipH="0" flipV="0">
            <a:off x="4505325" y="3181350"/>
            <a:ext cx="95250" cy="95250"/>
          </a:xfrm>
          <a:prstGeom prst="roundRect">
            <a:avLst>
              <a:gd name="adj" fmla="val 9990000"/>
            </a:avLst>
          </a:prstGeom>
          <a:solidFill>
            <a:srgbClr val="2E9E6F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4676775" y="3105150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2B24"/>
                </a:solidFill>
                <a:latin typeface="Microsoft YaHei"/>
                <a:ea typeface="Microsoft YaHei"/>
              </a:rPr>
              <a:t>系统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4505325" y="3448050"/>
            <a:ext cx="31813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E6E66"/>
                </a:solidFill>
                <a:latin typeface="Microsoft YaHei"/>
                <a:ea typeface="Microsoft YaHei"/>
              </a:rPr>
              <a:t>控制面板：选哪个模型、开多大权限、连得通不通。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7991475" y="2952750"/>
            <a:ext cx="3514725" cy="1600200"/>
          </a:xfrm>
          <a:prstGeom prst="roundRect">
            <a:avLst>
              <a:gd name="adj" fmla="val 8333"/>
            </a:avLst>
          </a:prstGeom>
          <a:solidFill>
            <a:srgbClr val="E3EFE8"/>
          </a:solidFill>
          <a:ln/>
        </p:spPr>
        <p:txBody>
          <a:bodyPr/>
          <a:p/>
        </p:txBody>
      </p:sp>
      <p:sp>
        <p:nvSpPr>
          <p:cNvPr id="124" name=""/>
          <p:cNvSpPr/>
          <p:nvPr/>
        </p:nvSpPr>
        <p:spPr>
          <a:xfrm rot="0" flipH="0" flipV="0">
            <a:off x="8162925" y="3181350"/>
            <a:ext cx="95250" cy="95250"/>
          </a:xfrm>
          <a:prstGeom prst="roundRect">
            <a:avLst>
              <a:gd name="adj" fmla="val 9990000"/>
            </a:avLst>
          </a:prstGeom>
          <a:solidFill>
            <a:srgbClr val="2E9E6F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8334375" y="3105150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2B24"/>
                </a:solidFill>
                <a:latin typeface="Microsoft YaHei"/>
                <a:ea typeface="Microsoft YaHei"/>
              </a:rPr>
              <a:t>记忆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8162925" y="3448050"/>
            <a:ext cx="31718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125">
                <a:solidFill>
                  <a:srgbClr val="5E6E66"/>
                </a:solidFill>
                <a:latin typeface="Microsoft YaHei"/>
                <a:ea typeface="Microsoft YaHei"/>
              </a:rPr>
              <a:t>AI </a:t>
            </a:r>
            <a:r>
              <a:rPr lang="zh-CN" sz="1125">
                <a:solidFill>
                  <a:srgbClr val="5E6E66"/>
                </a:solidFill>
                <a:latin typeface="Microsoft YaHei"/>
                <a:ea typeface="Microsoft YaHei"/>
              </a:rPr>
              <a:t>记住你的事：偏好、习惯、说过的话，跨次都在。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685800" y="4686300"/>
            <a:ext cx="3514725" cy="1333500"/>
          </a:xfrm>
          <a:prstGeom prst="roundRect">
            <a:avLst>
              <a:gd name="adj" fmla="val 10000"/>
            </a:avLst>
          </a:prstGeom>
          <a:solidFill>
            <a:srgbClr val="E3EFE8"/>
          </a:solidFill>
          <a:ln/>
        </p:spPr>
        <p:txBody>
          <a:bodyPr/>
          <a:p/>
        </p:txBody>
      </p:sp>
      <p:sp>
        <p:nvSpPr>
          <p:cNvPr id="128" name=""/>
          <p:cNvSpPr/>
          <p:nvPr/>
        </p:nvSpPr>
        <p:spPr>
          <a:xfrm rot="0" flipH="0" flipV="0">
            <a:off x="857250" y="4914900"/>
            <a:ext cx="95250" cy="95250"/>
          </a:xfrm>
          <a:prstGeom prst="roundRect">
            <a:avLst>
              <a:gd name="adj" fmla="val 9990000"/>
            </a:avLst>
          </a:prstGeom>
          <a:solidFill>
            <a:srgbClr val="2E9E6F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1028700" y="4838700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2B24"/>
                </a:solidFill>
                <a:latin typeface="Microsoft YaHei"/>
                <a:ea typeface="Microsoft YaHei"/>
              </a:rPr>
              <a:t>日历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857250" y="5181600"/>
            <a:ext cx="317182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E6E66"/>
                </a:solidFill>
                <a:latin typeface="Microsoft YaHei"/>
                <a:ea typeface="Microsoft YaHei"/>
              </a:rPr>
              <a:t>你的日程表，</a:t>
            </a:r>
            <a:r>
              <a:rPr lang="en-US" sz="1125">
                <a:solidFill>
                  <a:srgbClr val="5E6E66"/>
                </a:solidFill>
                <a:latin typeface="Microsoft YaHei"/>
                <a:ea typeface="Microsoft YaHei"/>
              </a:rPr>
              <a:t>AI </a:t>
            </a:r>
            <a:r>
              <a:rPr lang="zh-CN" sz="1125">
                <a:solidFill>
                  <a:srgbClr val="5E6E66"/>
                </a:solidFill>
                <a:latin typeface="Microsoft YaHei"/>
                <a:ea typeface="Microsoft YaHei"/>
              </a:rPr>
              <a:t>能看、能提醒。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4333875" y="4686300"/>
            <a:ext cx="3524250" cy="1333500"/>
          </a:xfrm>
          <a:prstGeom prst="roundRect">
            <a:avLst>
              <a:gd name="adj" fmla="val 10000"/>
            </a:avLst>
          </a:prstGeom>
          <a:solidFill>
            <a:srgbClr val="E3EFE8"/>
          </a:solidFill>
          <a:ln/>
        </p:spPr>
        <p:txBody>
          <a:bodyPr/>
          <a:p/>
        </p:txBody>
      </p:sp>
      <p:sp>
        <p:nvSpPr>
          <p:cNvPr id="132" name=""/>
          <p:cNvSpPr/>
          <p:nvPr/>
        </p:nvSpPr>
        <p:spPr>
          <a:xfrm rot="0" flipH="0" flipV="0">
            <a:off x="4505325" y="4914900"/>
            <a:ext cx="95250" cy="95250"/>
          </a:xfrm>
          <a:prstGeom prst="roundRect">
            <a:avLst>
              <a:gd name="adj" fmla="val 9990000"/>
            </a:avLst>
          </a:prstGeom>
          <a:solidFill>
            <a:srgbClr val="2E9E6F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4676775" y="4838700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2B24"/>
                </a:solidFill>
                <a:latin typeface="Microsoft YaHei"/>
                <a:ea typeface="Microsoft YaHei"/>
              </a:rPr>
              <a:t>周期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4505325" y="5181600"/>
            <a:ext cx="31813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E6E66"/>
                </a:solidFill>
                <a:latin typeface="Microsoft YaHei"/>
                <a:ea typeface="Microsoft YaHei"/>
              </a:rPr>
              <a:t>记录身体节奏（如生理周期），做趋势回顾。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7991475" y="4686300"/>
            <a:ext cx="3514725" cy="1333500"/>
          </a:xfrm>
          <a:prstGeom prst="roundRect">
            <a:avLst>
              <a:gd name="adj" fmla="val 10000"/>
            </a:avLst>
          </a:prstGeom>
          <a:solidFill>
            <a:srgbClr val="E3EFE8"/>
          </a:solidFill>
          <a:ln/>
        </p:spPr>
        <p:txBody>
          <a:bodyPr/>
          <a:p/>
        </p:txBody>
      </p:sp>
      <p:sp>
        <p:nvSpPr>
          <p:cNvPr id="136" name=""/>
          <p:cNvSpPr/>
          <p:nvPr/>
        </p:nvSpPr>
        <p:spPr>
          <a:xfrm rot="0" flipH="0" flipV="0">
            <a:off x="8162925" y="4914900"/>
            <a:ext cx="95250" cy="95250"/>
          </a:xfrm>
          <a:prstGeom prst="roundRect">
            <a:avLst>
              <a:gd name="adj" fmla="val 9990000"/>
            </a:avLst>
          </a:prstGeom>
          <a:solidFill>
            <a:srgbClr val="2E9E6F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8334375" y="4838700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2B24"/>
                </a:solidFill>
                <a:latin typeface="Microsoft YaHei"/>
                <a:ea typeface="Microsoft YaHei"/>
              </a:rPr>
              <a:t>数据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8162925" y="5181600"/>
            <a:ext cx="317182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E6E66"/>
                </a:solidFill>
                <a:latin typeface="Microsoft YaHei"/>
                <a:ea typeface="Microsoft YaHei"/>
              </a:rPr>
              <a:t>把记下的东西汇成图表，一眼看趋势。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85800" y="640080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6E66"/>
                </a:solidFill>
                <a:latin typeface="Microsoft YaHei"/>
                <a:ea typeface="Microsoft YaHei"/>
              </a:rPr>
              <a:t>DEAR </a:t>
            </a:r>
            <a:r>
              <a:rPr lang="zh-CN" sz="1050">
                <a:solidFill>
                  <a:srgbClr val="5E6E66"/>
                </a:solidFill>
                <a:latin typeface="Microsoft YaHei"/>
                <a:ea typeface="Microsoft YaHei"/>
              </a:rPr>
              <a:t>功能页布局方案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110490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6E66"/>
                </a:solidFill>
                <a:latin typeface="Microsoft YaHei"/>
                <a:ea typeface="Microsoft YaHei"/>
              </a:rPr>
              <a:t>03 / 11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41" name="" descr="&lt;Slide style={{ width: '1280px', height: '720px', background: '#F5F9F6' }}&gt;&#10;  &lt;Box style={{ height: '100%', flexDirection: 'column' }}&gt;&#10;    &lt;Box style={{ height: 110, padding: '26px 72px 0', justifyContent: 'flex-end' }}&gt;&#10;      &lt;Text style={{ fontSize: 14, color: '#2E9E6F', fontWeight: '600', letterSpacing: 1 }}&gt;动线逻辑&lt;/Text&gt;&#10;      &lt;Text style={{ fontSize: 34, fontWeight: 'bold', color: '#1E2B24' }}&gt;聊天是家，其它都是浮层&lt;/Text&gt;&#10;    &lt;/Box&gt;&#10;&#10;    &lt;Box style={{ height: 540, padding: '16px 72px', flexDirection: 'row', gap: 44, alignItems: 'center' }}&gt;&#10;      &lt;Box style={{ width: 330, alignItems: 'center' }}&gt;&#10;        &lt;svg width={300} height={460} viewBox='0 0 300 480'&gt;&#10;          &lt;rect x='20' y='10' width='210' height='460' rx='30' fill='#E3EFE8' stroke='#CFE0D6' strokeWidth='2' /&gt;&#10;          &lt;rect x='32' y='24' width='186' height='430' rx='16' fill='#F5F9F6' /&gt;&#10;          &lt;rect x='48' y='70' width='110' height='40' rx='12' fill='#E3EFE8' /&gt;&#10;          &lt;rect x='100' y='128' width='100' height='36' rx='12' fill='#2E9E6F' opacity='0.18' /&gt;&#10;          &lt;rect x='48' y='182' width='120' height='40' rx='12' fill='#E3EFE8' /&gt;&#10;          &lt;rect x='48' y='402' width='150' height='34' rx='17' fill='#FFFFFF' stroke='#CFE0D6' strokeWidth='2' /&gt;&#10;          &lt;rect x='118' y='58' width='152' height='300' rx='16' fill='#FFFFFF' stroke='#2E9E6F' strokeWidth='2' /&gt;&#10;          &lt;rect x='136' y='78' width='90' height='16' rx='8' fill='#2E9E6F' opacity='0.25' /&gt;&#10;          &lt;rect x='136' y='110' width='114' height='12' rx='6' fill='#CFE0D6' /&gt;&#10;          &lt;rect x='136' y='132' width='114' height='12' rx='6' fill='#CFE0D6' /&gt;&#10;          &lt;rect x='136' y='168' width='70' height='42' rx='10' fill='#E3EFE8' /&gt;&#10;          &lt;circle cx='252' cy='78' r='11' fill='#2E9E6F' /&gt;&#10;          &lt;path d='M247 73 L257 83 M257 73 L247 83' stroke='#fff' strokeWidth='2.5' /&gt;&#10;        &lt;/svg&gt;&#10;        &lt;Text style={{ fontSize: 15, color: '#5E6E66', marginTop: 6 }}&gt;掀开一个功能小窗，聊天还在底下&lt;/Text&gt;&#10;      &lt;/Box&gt;&#10;&#10;      &lt;Box style={{ flex: 1, flexDirection: 'column', gap: 14 }}&gt;&#10;        &lt;Text style={{ fontSize: 20, fontWeight: 'bold', color: '#1E2B24' }}&gt;为什么这么想？&lt;/Text&gt;&#10;        &lt;Box style={{ flexDirection: 'row', gap: 12, alignItems: 'flex-start' }}&gt;&#10;          &lt;Box style={{ width: 8, height: 8, borderRadius: 999, background: '#2E9E6F', marginTop: 9 }} /&gt;&#10;          &lt;Text style={{ fontSize: 18, color: '#5E6E66', lineHeight: 1.55 }}&gt;聊天是你天天用的，不能让它被「冲掉」。&lt;/Text&gt;&#10;        &lt;/Box&gt;&#10;        &lt;Box style={{ flexDirection: 'row', gap: 12, alignItems: 'flex-start' }}&gt;&#10;          &lt;Box style={{ width: 8, height: 8, borderRadius: 999, background: '#2E9E6F', marginTop: 9 }} /&gt;&#10;          &lt;Text style={{ fontSize: 18, color: '#5E6E66', lineHeight: 1.55 }}&gt;功能页是偶尔才开的，掀开看一眼就关。&lt;/Text&gt;&#10;        &lt;/Box&gt;&#10;        &lt;Box style={{ flexDirection: 'row', gap: 12, alignItems: 'flex-start' }}&gt;&#10;          &lt;Box style={{ width: 8, height: 8, borderRadius: 999, background: '#2E9E6F', marginTop: 9 }} /&gt;&#10;          &lt;Text style={{ fontSize: 18, color: '#5E6E66', lineHeight: 1.55 }}&gt;同一时刻只掀一个，不会叠一堆乱糟糟。&lt;/Text&gt;&#10;        &lt;/Box&gt;&#10;&#10;        &lt;Text style={{ fontSize: 20, fontWeight: 'bold', color: '#1E2B24', marginTop: 8 }}&gt;回家四法&lt;/Text&gt;&#10;        &lt;Box style={{ flexDirection: 'row', gap: 12, flexWrap: 'wrap' }}&gt;&#10;          &lt;Box style={{ padding: '10px 16px', border: '1.5px solid #2E9E6F', borderRadius: 999 }}&gt;&lt;Text style={{ fontSize: 16, color: '#2E9E6F', fontWeight: '600' }}&gt;双击聊天区&lt;/Text&gt;&lt;/Box&gt;&#10;          &lt;Box style={{ padding: '10px 16px', border: '1.5px solid #2E9E6F', borderRadius: 999 }}&gt;&lt;Text style={{ fontSize: 16, color: '#2E9E6F', fontWeight: '600' }}&gt;按 Esc&lt;/Text&gt;&lt;/Box&gt;&#10;          &lt;Box style={{ padding: '10px 16px', border: '1.5px solid #2E9E6F', borderRadius: 999 }}&gt;&lt;Text style={{ fontSize: 16, color: '#2E9E6F', fontWeight: '600' }}&gt;点一下空白处&lt;/Text&gt;&lt;/Box&gt;&#10;          &lt;Box style={{ padding: '10px 16px', border: '1.5px solid #2E9E6F', borderRadius: 999 }}&gt;&lt;Text style={{ fontSize: 16, color: '#2E9E6F', fontWeight: '600' }}&gt;再点当前图标&lt;/Text&gt;&lt;/Box&gt;&#10;        &lt;/Box&gt;&#10;      &lt;/Box&gt;&#10;    &lt;/Box&gt;&#10;&#10;    &lt;Box style={{ height: 60, padding: '0 72px', flexDirection: 'row', justifyContent: 'space-between', alignItems: 'center' }}&gt;&#10;      &lt;Text style={{ fontSize: 14, color: '#5E6E66' }}&gt;DEAR 功能页布局方案&lt;/Text&gt;&#10;      &lt;Text style={{ fontSize: 14, color: '#5E6E66' }}&gt;04 / 11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9F6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685800" y="495300"/>
            <a:ext cx="1082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2E9E6F"/>
                </a:solidFill>
                <a:latin typeface="Microsoft YaHei"/>
                <a:ea typeface="Microsoft YaHei"/>
              </a:rPr>
              <a:t>动线逻辑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85800" y="657225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2B24"/>
                </a:solidFill>
                <a:latin typeface="Microsoft YaHei"/>
                <a:ea typeface="Microsoft YaHei"/>
              </a:rPr>
              <a:t>聊天是家，其它都是浮层</a:t>
            </a:r>
            <a:endParaRPr/>
          </a:p>
        </p:txBody>
      </p:sp>
      <p:pic>
        <p:nvPicPr>
          <p:cNvPr id="14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28675" y="1314450"/>
            <a:ext cx="2857500" cy="4381500"/>
          </a:xfrm>
          <a:prstGeom prst="rect">
            <a:avLst/>
          </a:prstGeom>
          <a:ln/>
        </p:spPr>
      </p:pic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1190625" y="5753100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E6E66"/>
                </a:solidFill>
                <a:latin typeface="Microsoft YaHei"/>
                <a:ea typeface="Microsoft YaHei"/>
              </a:rPr>
              <a:t>掀开一个功能小窗，聊天还在底下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4248150" y="2343150"/>
            <a:ext cx="7258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2B24"/>
                </a:solidFill>
                <a:latin typeface="Microsoft YaHei"/>
                <a:ea typeface="Microsoft YaHei"/>
              </a:rPr>
              <a:t>为什么这么想？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4248150" y="2790825"/>
            <a:ext cx="76200" cy="76200"/>
          </a:xfrm>
          <a:prstGeom prst="roundRect">
            <a:avLst>
              <a:gd name="adj" fmla="val 12487500"/>
            </a:avLst>
          </a:prstGeom>
          <a:solidFill>
            <a:srgbClr val="2E9E6F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4438650" y="2705100"/>
            <a:ext cx="325755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5E6E66"/>
                </a:solidFill>
                <a:latin typeface="Microsoft YaHei"/>
                <a:ea typeface="Microsoft YaHei"/>
              </a:rPr>
              <a:t>聊天是你天天用的，不能让它被「冲掉」。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4248150" y="3248025"/>
            <a:ext cx="76200" cy="76200"/>
          </a:xfrm>
          <a:prstGeom prst="roundRect">
            <a:avLst>
              <a:gd name="adj" fmla="val 12487500"/>
            </a:avLst>
          </a:prstGeom>
          <a:solidFill>
            <a:srgbClr val="2E9E6F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4438650" y="3162300"/>
            <a:ext cx="308610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5E6E66"/>
                </a:solidFill>
                <a:latin typeface="Microsoft YaHei"/>
                <a:ea typeface="Microsoft YaHei"/>
              </a:rPr>
              <a:t>功能页是偶尔才开的，掀开看一眼就关。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4248150" y="3705225"/>
            <a:ext cx="76200" cy="76200"/>
          </a:xfrm>
          <a:prstGeom prst="roundRect">
            <a:avLst>
              <a:gd name="adj" fmla="val 12487500"/>
            </a:avLst>
          </a:prstGeom>
          <a:solidFill>
            <a:srgbClr val="2E9E6F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4438650" y="3619500"/>
            <a:ext cx="308610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5E6E66"/>
                </a:solidFill>
                <a:latin typeface="Microsoft YaHei"/>
                <a:ea typeface="Microsoft YaHei"/>
              </a:rPr>
              <a:t>同一时刻只掀一个，不会叠一堆乱糟糟。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4248150" y="4152900"/>
            <a:ext cx="7258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2B24"/>
                </a:solidFill>
                <a:latin typeface="Microsoft YaHei"/>
                <a:ea typeface="Microsoft YaHei"/>
              </a:rPr>
              <a:t>回家四法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4248150" y="4514850"/>
            <a:ext cx="1066800" cy="381000"/>
          </a:xfrm>
          <a:prstGeom prst="roundRect">
            <a:avLst>
              <a:gd name="adj" fmla="val 2497500"/>
            </a:avLst>
          </a:prstGeom>
          <a:ln w="19050">
            <a:solidFill>
              <a:srgbClr val="2E9E6F"/>
            </a:solidFill>
            <a:prstDash val="solid"/>
          </a:ln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4400550" y="461010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E9E6F"/>
                </a:solidFill>
                <a:latin typeface="Microsoft YaHei"/>
                <a:ea typeface="Microsoft YaHei"/>
              </a:rPr>
              <a:t>双击聊天区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5429250" y="4514850"/>
            <a:ext cx="752475" cy="381000"/>
          </a:xfrm>
          <a:prstGeom prst="roundRect">
            <a:avLst>
              <a:gd name="adj" fmla="val 2497500"/>
            </a:avLst>
          </a:prstGeom>
          <a:ln w="19050">
            <a:solidFill>
              <a:srgbClr val="2E9E6F"/>
            </a:solidFill>
            <a:prstDash val="solid"/>
          </a:ln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5581650" y="4610100"/>
            <a:ext cx="447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E9E6F"/>
                </a:solidFill>
                <a:latin typeface="Microsoft YaHei"/>
                <a:ea typeface="Microsoft YaHei"/>
              </a:rPr>
              <a:t>按</a:t>
            </a:r>
            <a:r>
              <a:rPr lang="en-US" sz="1200" b="1">
                <a:solidFill>
                  <a:srgbClr val="2E9E6F"/>
                </a:solidFill>
                <a:latin typeface="Microsoft YaHei"/>
                <a:ea typeface="Microsoft YaHei"/>
              </a:rPr>
              <a:t> Esc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6296025" y="4514850"/>
            <a:ext cx="1219200" cy="381000"/>
          </a:xfrm>
          <a:prstGeom prst="roundRect">
            <a:avLst>
              <a:gd name="adj" fmla="val 2497500"/>
            </a:avLst>
          </a:prstGeom>
          <a:ln w="19050">
            <a:solidFill>
              <a:srgbClr val="2E9E6F"/>
            </a:solidFill>
            <a:prstDash val="solid"/>
          </a:ln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6448425" y="461010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E9E6F"/>
                </a:solidFill>
                <a:latin typeface="Microsoft YaHei"/>
                <a:ea typeface="Microsoft YaHei"/>
              </a:rPr>
              <a:t>点一下空白处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7629525" y="4514850"/>
            <a:ext cx="1219200" cy="381000"/>
          </a:xfrm>
          <a:prstGeom prst="roundRect">
            <a:avLst>
              <a:gd name="adj" fmla="val 2497500"/>
            </a:avLst>
          </a:prstGeom>
          <a:ln w="19050">
            <a:solidFill>
              <a:srgbClr val="2E9E6F"/>
            </a:solidFill>
            <a:prstDash val="solid"/>
          </a:ln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7781925" y="461010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E9E6F"/>
                </a:solidFill>
                <a:latin typeface="Microsoft YaHei"/>
                <a:ea typeface="Microsoft YaHei"/>
              </a:rPr>
              <a:t>再点当前图标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85800" y="640080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6E66"/>
                </a:solidFill>
                <a:latin typeface="Microsoft YaHei"/>
                <a:ea typeface="Microsoft YaHei"/>
              </a:rPr>
              <a:t>DEAR </a:t>
            </a:r>
            <a:r>
              <a:rPr lang="zh-CN" sz="1050">
                <a:solidFill>
                  <a:srgbClr val="5E6E66"/>
                </a:solidFill>
                <a:latin typeface="Microsoft YaHei"/>
                <a:ea typeface="Microsoft YaHei"/>
              </a:rPr>
              <a:t>功能页布局方案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110490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6E66"/>
                </a:solidFill>
                <a:latin typeface="Microsoft YaHei"/>
                <a:ea typeface="Microsoft YaHei"/>
              </a:rPr>
              <a:t>04 / 11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65" name="" descr="&lt;Slide style={{ width: '1280px', height: '720px', background: '#F5F9F6' }}&gt;&#10;  {(() =&gt; {&#10;    const groups = [&#10;      { t: '常看', s: '像日记本，常翻', items: ['日记', '日历', '周期', '数据'] },&#10;      { t: '工具', s: '给 AI 加料', items: ['人格', '技能', 'MCP'] },&#10;      { t: '设置', s: '调后台，藏深点', items: ['记忆', '系统'] },&#10;    ];&#10;    const col = (g) =&gt; (&#10;      &lt;Box style={{ flex: 1, flexDirection: 'column', background: '#E3EFE8', borderRadius: 16, padding: '22px 22px' }}&gt;&#10;        &lt;Box style={{ padding: '8px 16px', background: '#2E9E6F', borderRadius: 999, alignSelf: 'flex-start' }}&gt;&#10;          &lt;Text style={{ fontSize: 18, color: '#fff', fontWeight: 'bold' }}&gt;{g.t}&lt;/Text&gt;&#10;        &lt;/Box&gt;&#10;        &lt;Text style={{ fontSize: 14, color: '#5E6E66', marginTop: 8, marginBottom: 14 }}&gt;{g.s}&lt;/Text&gt;&#10;        {g.items.map((it, i) =&gt; (&#10;          &lt;Box key={i} style={{ flexDirection: 'row', alignItems: 'center', gap: 10, padding: '12px 0', borderTop: '1px solid #CFE0D6' }}&gt;&#10;            &lt;Box style={{ width: 8, height: 8, borderRadius: 999, background: '#2E9E6F' }} /&gt;&#10;            &lt;Text style={{ fontSize: 19, color: '#1E2B24', fontWeight: '600' }}&gt;{it}&lt;/Text&gt;&#10;          &lt;/Box&gt;&#10;        ))}&#10;      &lt;/Box&gt;&#10;    );&#10;    return (&#10;      &lt;Box style={{ height: '100%', flexDirection: 'column' }}&gt;&#10;        &lt;Box style={{ height: 110, padding: '26px 72px 0', justifyContent: 'flex-end' }}&gt;&#10;          &lt;Text style={{ fontSize: 14, color: '#2E9E6F', fontWeight: '600', letterSpacing: 1 }}&gt;怎么分组&lt;/Text&gt;&#10;          &lt;Text style={{ fontSize: 34, fontWeight: 'bold', color: '#1E2B24' }}&gt;9 个功能，分成三堆&lt;/Text&gt;&#10;        &lt;/Box&gt;&#10;&#10;        &lt;Box style={{ height: 540, padding: '22px 72px', flexDirection: 'row', gap: 22, alignItems: 'stretch' }}&gt;&#10;          {col(groups[0])}{col(groups[1])}{col(groups[2])}&#10;        &lt;/Box&gt;&#10;&#10;        &lt;Box style={{ height: 60, padding: '0 72px', flexDirection: 'row', justifyContent: 'space-between', alignItems: 'center' }}&gt;&#10;          &lt;Text style={{ fontSize: 14, color: '#5E6E66' }}&gt;DEAR 功能页布局方案&lt;/Text&gt;&#10;          &lt;Text style={{ fontSize: 14, color: '#5E6E66' }}&gt;05 / 11&lt;/Text&gt;&#10;        &lt;/Box&gt;&#10;      &lt;/Box&gt;&#10;    );&#10;  })()}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9F6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685800" y="495300"/>
            <a:ext cx="1082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2E9E6F"/>
                </a:solidFill>
                <a:latin typeface="Microsoft YaHei"/>
                <a:ea typeface="Microsoft YaHei"/>
              </a:rPr>
              <a:t>怎么分组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85800" y="657225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2B24"/>
                </a:solidFill>
                <a:latin typeface="Microsoft YaHei"/>
                <a:ea typeface="Microsoft YaHei"/>
              </a:rPr>
              <a:t>9 </a:t>
            </a:r>
            <a:r>
              <a:rPr lang="zh-CN" sz="2550" b="1">
                <a:solidFill>
                  <a:srgbClr val="1E2B24"/>
                </a:solidFill>
                <a:latin typeface="Microsoft YaHei"/>
                <a:ea typeface="Microsoft YaHei"/>
              </a:rPr>
              <a:t>个功能，分成三堆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685800" y="1257300"/>
            <a:ext cx="3467100" cy="4724400"/>
          </a:xfrm>
          <a:prstGeom prst="roundRect">
            <a:avLst>
              <a:gd name="adj" fmla="val 4396"/>
            </a:avLst>
          </a:prstGeom>
          <a:solidFill>
            <a:srgbClr val="E3EFE8"/>
          </a:solidFill>
          <a:ln/>
        </p:spPr>
        <p:txBody>
          <a:bodyPr/>
          <a:p/>
        </p:txBody>
      </p:sp>
      <p:sp>
        <p:nvSpPr>
          <p:cNvPr id="170" name=""/>
          <p:cNvSpPr/>
          <p:nvPr/>
        </p:nvSpPr>
        <p:spPr>
          <a:xfrm rot="0" flipH="0" flipV="0">
            <a:off x="895350" y="1466850"/>
            <a:ext cx="647700" cy="361950"/>
          </a:xfrm>
          <a:prstGeom prst="roundRect">
            <a:avLst>
              <a:gd name="adj" fmla="val 2628947"/>
            </a:avLst>
          </a:prstGeom>
          <a:solidFill>
            <a:srgbClr val="2E9E6F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1047750" y="1543050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常看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895350" y="1905000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E6E66"/>
                </a:solidFill>
                <a:latin typeface="Microsoft YaHei"/>
                <a:ea typeface="Microsoft YaHei"/>
              </a:rPr>
              <a:t>像日记本，常翻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895350" y="2200275"/>
            <a:ext cx="3048000" cy="466725"/>
          </a:xfrm>
          <a:custGeom>
            <a:pathLst>
              <a:path w="320" h="49">
                <a:moveTo>
                  <a:pt x="0" y="0"/>
                </a:moveTo>
                <a:lnTo>
                  <a:pt x="320" y="0"/>
                </a:lnTo>
                <a:lnTo>
                  <a:pt x="320" y="1"/>
                </a:lnTo>
                <a:lnTo>
                  <a:pt x="0" y="1"/>
                </a:lnTo>
                <a:close/>
              </a:path>
            </a:pathLst>
          </a:custGeom>
          <a:solidFill>
            <a:srgbClr val="CFE0D6"/>
          </a:solidFill>
          <a:ln/>
        </p:spPr>
        <p:txBody>
          <a:bodyPr/>
          <a:p/>
        </p:txBody>
      </p:sp>
      <p:sp>
        <p:nvSpPr>
          <p:cNvPr id="174" name=""/>
          <p:cNvSpPr/>
          <p:nvPr/>
        </p:nvSpPr>
        <p:spPr>
          <a:xfrm rot="0" flipH="0" flipV="0">
            <a:off x="895350" y="2400300"/>
            <a:ext cx="76200" cy="76200"/>
          </a:xfrm>
          <a:prstGeom prst="roundRect">
            <a:avLst>
              <a:gd name="adj" fmla="val 12487500"/>
            </a:avLst>
          </a:prstGeom>
          <a:solidFill>
            <a:srgbClr val="2E9E6F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1066800" y="2324100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2B24"/>
                </a:solidFill>
                <a:latin typeface="Microsoft YaHei"/>
                <a:ea typeface="Microsoft YaHei"/>
              </a:rPr>
              <a:t>日记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895350" y="2657475"/>
            <a:ext cx="3048000" cy="466725"/>
          </a:xfrm>
          <a:custGeom>
            <a:pathLst>
              <a:path w="320" h="49">
                <a:moveTo>
                  <a:pt x="0" y="0"/>
                </a:moveTo>
                <a:lnTo>
                  <a:pt x="320" y="0"/>
                </a:lnTo>
                <a:lnTo>
                  <a:pt x="320" y="1"/>
                </a:lnTo>
                <a:lnTo>
                  <a:pt x="0" y="1"/>
                </a:lnTo>
                <a:close/>
              </a:path>
            </a:pathLst>
          </a:custGeom>
          <a:solidFill>
            <a:srgbClr val="CFE0D6"/>
          </a:solidFill>
          <a:ln/>
        </p:spPr>
        <p:txBody>
          <a:bodyPr/>
          <a:p/>
        </p:txBody>
      </p:sp>
      <p:sp>
        <p:nvSpPr>
          <p:cNvPr id="177" name=""/>
          <p:cNvSpPr/>
          <p:nvPr/>
        </p:nvSpPr>
        <p:spPr>
          <a:xfrm rot="0" flipH="0" flipV="0">
            <a:off x="895350" y="2857500"/>
            <a:ext cx="76200" cy="76200"/>
          </a:xfrm>
          <a:prstGeom prst="roundRect">
            <a:avLst>
              <a:gd name="adj" fmla="val 12487500"/>
            </a:avLst>
          </a:prstGeom>
          <a:solidFill>
            <a:srgbClr val="2E9E6F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066800" y="2781300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2B24"/>
                </a:solidFill>
                <a:latin typeface="Microsoft YaHei"/>
                <a:ea typeface="Microsoft YaHei"/>
              </a:rPr>
              <a:t>日历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895350" y="3114675"/>
            <a:ext cx="3048000" cy="466725"/>
          </a:xfrm>
          <a:custGeom>
            <a:pathLst>
              <a:path w="320" h="49">
                <a:moveTo>
                  <a:pt x="0" y="0"/>
                </a:moveTo>
                <a:lnTo>
                  <a:pt x="320" y="0"/>
                </a:lnTo>
                <a:lnTo>
                  <a:pt x="320" y="1"/>
                </a:lnTo>
                <a:lnTo>
                  <a:pt x="0" y="1"/>
                </a:lnTo>
                <a:close/>
              </a:path>
            </a:pathLst>
          </a:custGeom>
          <a:solidFill>
            <a:srgbClr val="CFE0D6"/>
          </a:solidFill>
          <a:ln/>
        </p:spPr>
        <p:txBody>
          <a:bodyPr/>
          <a:p/>
        </p:txBody>
      </p:sp>
      <p:sp>
        <p:nvSpPr>
          <p:cNvPr id="180" name=""/>
          <p:cNvSpPr/>
          <p:nvPr/>
        </p:nvSpPr>
        <p:spPr>
          <a:xfrm rot="0" flipH="0" flipV="0">
            <a:off x="895350" y="3314700"/>
            <a:ext cx="76200" cy="76200"/>
          </a:xfrm>
          <a:prstGeom prst="roundRect">
            <a:avLst>
              <a:gd name="adj" fmla="val 12487500"/>
            </a:avLst>
          </a:prstGeom>
          <a:solidFill>
            <a:srgbClr val="2E9E6F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1066800" y="3238500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2B24"/>
                </a:solidFill>
                <a:latin typeface="Microsoft YaHei"/>
                <a:ea typeface="Microsoft YaHei"/>
              </a:rPr>
              <a:t>周期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895350" y="3571875"/>
            <a:ext cx="3048000" cy="466725"/>
          </a:xfrm>
          <a:custGeom>
            <a:pathLst>
              <a:path w="320" h="49">
                <a:moveTo>
                  <a:pt x="0" y="0"/>
                </a:moveTo>
                <a:lnTo>
                  <a:pt x="320" y="0"/>
                </a:lnTo>
                <a:lnTo>
                  <a:pt x="320" y="1"/>
                </a:lnTo>
                <a:lnTo>
                  <a:pt x="0" y="1"/>
                </a:lnTo>
                <a:close/>
              </a:path>
            </a:pathLst>
          </a:custGeom>
          <a:solidFill>
            <a:srgbClr val="CFE0D6"/>
          </a:solidFill>
          <a:ln/>
        </p:spPr>
        <p:txBody>
          <a:bodyPr/>
          <a:p/>
        </p:txBody>
      </p:sp>
      <p:sp>
        <p:nvSpPr>
          <p:cNvPr id="183" name=""/>
          <p:cNvSpPr/>
          <p:nvPr/>
        </p:nvSpPr>
        <p:spPr>
          <a:xfrm rot="0" flipH="0" flipV="0">
            <a:off x="895350" y="3771900"/>
            <a:ext cx="76200" cy="76200"/>
          </a:xfrm>
          <a:prstGeom prst="roundRect">
            <a:avLst>
              <a:gd name="adj" fmla="val 12487500"/>
            </a:avLst>
          </a:prstGeom>
          <a:solidFill>
            <a:srgbClr val="2E9E6F"/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1066800" y="3695700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2B24"/>
                </a:solidFill>
                <a:latin typeface="Microsoft YaHei"/>
                <a:ea typeface="Microsoft YaHei"/>
              </a:rPr>
              <a:t>数据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4362450" y="1257300"/>
            <a:ext cx="3467100" cy="4724400"/>
          </a:xfrm>
          <a:prstGeom prst="roundRect">
            <a:avLst>
              <a:gd name="adj" fmla="val 4396"/>
            </a:avLst>
          </a:prstGeom>
          <a:solidFill>
            <a:srgbClr val="E3EFE8"/>
          </a:solidFill>
          <a:ln/>
        </p:spPr>
        <p:txBody>
          <a:bodyPr/>
          <a:p/>
        </p:txBody>
      </p:sp>
      <p:sp>
        <p:nvSpPr>
          <p:cNvPr id="186" name=""/>
          <p:cNvSpPr/>
          <p:nvPr/>
        </p:nvSpPr>
        <p:spPr>
          <a:xfrm rot="0" flipH="0" flipV="0">
            <a:off x="4572000" y="1466850"/>
            <a:ext cx="647700" cy="361950"/>
          </a:xfrm>
          <a:prstGeom prst="roundRect">
            <a:avLst>
              <a:gd name="adj" fmla="val 2628947"/>
            </a:avLst>
          </a:prstGeom>
          <a:solidFill>
            <a:srgbClr val="2E9E6F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4724400" y="1543050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工具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4572000" y="1905000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E6E66"/>
                </a:solidFill>
                <a:latin typeface="Microsoft YaHei"/>
                <a:ea typeface="Microsoft YaHei"/>
              </a:rPr>
              <a:t>给</a:t>
            </a:r>
            <a:r>
              <a:rPr lang="en-US" sz="1050">
                <a:solidFill>
                  <a:srgbClr val="5E6E66"/>
                </a:solidFill>
                <a:latin typeface="Microsoft YaHei"/>
                <a:ea typeface="Microsoft YaHei"/>
              </a:rPr>
              <a:t> AI </a:t>
            </a:r>
            <a:r>
              <a:rPr lang="zh-CN" sz="1050">
                <a:solidFill>
                  <a:srgbClr val="5E6E66"/>
                </a:solidFill>
                <a:latin typeface="Microsoft YaHei"/>
                <a:ea typeface="Microsoft YaHei"/>
              </a:rPr>
              <a:t>加料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4572000" y="2200275"/>
            <a:ext cx="3048000" cy="466725"/>
          </a:xfrm>
          <a:custGeom>
            <a:pathLst>
              <a:path w="320" h="49">
                <a:moveTo>
                  <a:pt x="0" y="0"/>
                </a:moveTo>
                <a:lnTo>
                  <a:pt x="320" y="0"/>
                </a:lnTo>
                <a:lnTo>
                  <a:pt x="320" y="1"/>
                </a:lnTo>
                <a:lnTo>
                  <a:pt x="0" y="1"/>
                </a:lnTo>
                <a:close/>
              </a:path>
            </a:pathLst>
          </a:custGeom>
          <a:solidFill>
            <a:srgbClr val="CFE0D6"/>
          </a:solidFill>
          <a:ln/>
        </p:spPr>
        <p:txBody>
          <a:bodyPr/>
          <a:p/>
        </p:txBody>
      </p:sp>
      <p:sp>
        <p:nvSpPr>
          <p:cNvPr id="190" name=""/>
          <p:cNvSpPr/>
          <p:nvPr/>
        </p:nvSpPr>
        <p:spPr>
          <a:xfrm rot="0" flipH="0" flipV="0">
            <a:off x="4572000" y="2400300"/>
            <a:ext cx="76200" cy="76200"/>
          </a:xfrm>
          <a:prstGeom prst="roundRect">
            <a:avLst>
              <a:gd name="adj" fmla="val 12487500"/>
            </a:avLst>
          </a:prstGeom>
          <a:solidFill>
            <a:srgbClr val="2E9E6F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4743450" y="2324100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2B24"/>
                </a:solidFill>
                <a:latin typeface="Microsoft YaHei"/>
                <a:ea typeface="Microsoft YaHei"/>
              </a:rPr>
              <a:t>人格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4572000" y="2657475"/>
            <a:ext cx="3048000" cy="466725"/>
          </a:xfrm>
          <a:custGeom>
            <a:pathLst>
              <a:path w="320" h="49">
                <a:moveTo>
                  <a:pt x="0" y="0"/>
                </a:moveTo>
                <a:lnTo>
                  <a:pt x="320" y="0"/>
                </a:lnTo>
                <a:lnTo>
                  <a:pt x="320" y="1"/>
                </a:lnTo>
                <a:lnTo>
                  <a:pt x="0" y="1"/>
                </a:lnTo>
                <a:close/>
              </a:path>
            </a:pathLst>
          </a:custGeom>
          <a:solidFill>
            <a:srgbClr val="CFE0D6"/>
          </a:solidFill>
          <a:ln/>
        </p:spPr>
        <p:txBody>
          <a:bodyPr/>
          <a:p/>
        </p:txBody>
      </p:sp>
      <p:sp>
        <p:nvSpPr>
          <p:cNvPr id="193" name=""/>
          <p:cNvSpPr/>
          <p:nvPr/>
        </p:nvSpPr>
        <p:spPr>
          <a:xfrm rot="0" flipH="0" flipV="0">
            <a:off x="4572000" y="2857500"/>
            <a:ext cx="76200" cy="76200"/>
          </a:xfrm>
          <a:prstGeom prst="roundRect">
            <a:avLst>
              <a:gd name="adj" fmla="val 12487500"/>
            </a:avLst>
          </a:prstGeom>
          <a:solidFill>
            <a:srgbClr val="2E9E6F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4743450" y="2781300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2B24"/>
                </a:solidFill>
                <a:latin typeface="Microsoft YaHei"/>
                <a:ea typeface="Microsoft YaHei"/>
              </a:rPr>
              <a:t>技能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4572000" y="3114675"/>
            <a:ext cx="3048000" cy="466725"/>
          </a:xfrm>
          <a:custGeom>
            <a:pathLst>
              <a:path w="320" h="49">
                <a:moveTo>
                  <a:pt x="0" y="0"/>
                </a:moveTo>
                <a:lnTo>
                  <a:pt x="320" y="0"/>
                </a:lnTo>
                <a:lnTo>
                  <a:pt x="320" y="1"/>
                </a:lnTo>
                <a:lnTo>
                  <a:pt x="0" y="1"/>
                </a:lnTo>
                <a:close/>
              </a:path>
            </a:pathLst>
          </a:custGeom>
          <a:solidFill>
            <a:srgbClr val="CFE0D6"/>
          </a:solidFill>
          <a:ln/>
        </p:spPr>
        <p:txBody>
          <a:bodyPr/>
          <a:p/>
        </p:txBody>
      </p:sp>
      <p:sp>
        <p:nvSpPr>
          <p:cNvPr id="196" name=""/>
          <p:cNvSpPr/>
          <p:nvPr/>
        </p:nvSpPr>
        <p:spPr>
          <a:xfrm rot="0" flipH="0" flipV="0">
            <a:off x="4572000" y="3314700"/>
            <a:ext cx="76200" cy="76200"/>
          </a:xfrm>
          <a:prstGeom prst="roundRect">
            <a:avLst>
              <a:gd name="adj" fmla="val 12487500"/>
            </a:avLst>
          </a:prstGeom>
          <a:solidFill>
            <a:srgbClr val="2E9E6F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4743450" y="3238500"/>
            <a:ext cx="4286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2B24"/>
                </a:solidFill>
                <a:latin typeface="Microsoft YaHei"/>
                <a:ea typeface="Microsoft YaHei"/>
              </a:rPr>
              <a:t>MCP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8039100" y="1257300"/>
            <a:ext cx="3467100" cy="4724400"/>
          </a:xfrm>
          <a:prstGeom prst="roundRect">
            <a:avLst>
              <a:gd name="adj" fmla="val 4396"/>
            </a:avLst>
          </a:prstGeom>
          <a:solidFill>
            <a:srgbClr val="E3EFE8"/>
          </a:solidFill>
          <a:ln/>
        </p:spPr>
        <p:txBody>
          <a:bodyPr/>
          <a:p/>
        </p:txBody>
      </p:sp>
      <p:sp>
        <p:nvSpPr>
          <p:cNvPr id="199" name=""/>
          <p:cNvSpPr/>
          <p:nvPr/>
        </p:nvSpPr>
        <p:spPr>
          <a:xfrm rot="0" flipH="0" flipV="0">
            <a:off x="8248650" y="1466850"/>
            <a:ext cx="647700" cy="361950"/>
          </a:xfrm>
          <a:prstGeom prst="roundRect">
            <a:avLst>
              <a:gd name="adj" fmla="val 2628947"/>
            </a:avLst>
          </a:prstGeom>
          <a:solidFill>
            <a:srgbClr val="2E9E6F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8401050" y="1543050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设置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8248650" y="1905000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E6E66"/>
                </a:solidFill>
                <a:latin typeface="Microsoft YaHei"/>
                <a:ea typeface="Microsoft YaHei"/>
              </a:rPr>
              <a:t>调后台，藏深点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8248650" y="2200275"/>
            <a:ext cx="3048000" cy="466725"/>
          </a:xfrm>
          <a:custGeom>
            <a:pathLst>
              <a:path w="320" h="49">
                <a:moveTo>
                  <a:pt x="0" y="0"/>
                </a:moveTo>
                <a:lnTo>
                  <a:pt x="320" y="0"/>
                </a:lnTo>
                <a:lnTo>
                  <a:pt x="320" y="1"/>
                </a:lnTo>
                <a:lnTo>
                  <a:pt x="0" y="1"/>
                </a:lnTo>
                <a:close/>
              </a:path>
            </a:pathLst>
          </a:custGeom>
          <a:solidFill>
            <a:srgbClr val="CFE0D6"/>
          </a:solidFill>
          <a:ln/>
        </p:spPr>
        <p:txBody>
          <a:bodyPr/>
          <a:p/>
        </p:txBody>
      </p:sp>
      <p:sp>
        <p:nvSpPr>
          <p:cNvPr id="203" name=""/>
          <p:cNvSpPr/>
          <p:nvPr/>
        </p:nvSpPr>
        <p:spPr>
          <a:xfrm rot="0" flipH="0" flipV="0">
            <a:off x="8248650" y="2400300"/>
            <a:ext cx="76200" cy="76200"/>
          </a:xfrm>
          <a:prstGeom prst="roundRect">
            <a:avLst>
              <a:gd name="adj" fmla="val 12487500"/>
            </a:avLst>
          </a:prstGeom>
          <a:solidFill>
            <a:srgbClr val="2E9E6F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8420100" y="2324100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2B24"/>
                </a:solidFill>
                <a:latin typeface="Microsoft YaHei"/>
                <a:ea typeface="Microsoft YaHei"/>
              </a:rPr>
              <a:t>记忆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8248650" y="2657475"/>
            <a:ext cx="3048000" cy="466725"/>
          </a:xfrm>
          <a:custGeom>
            <a:pathLst>
              <a:path w="320" h="49">
                <a:moveTo>
                  <a:pt x="0" y="0"/>
                </a:moveTo>
                <a:lnTo>
                  <a:pt x="320" y="0"/>
                </a:lnTo>
                <a:lnTo>
                  <a:pt x="320" y="1"/>
                </a:lnTo>
                <a:lnTo>
                  <a:pt x="0" y="1"/>
                </a:lnTo>
                <a:close/>
              </a:path>
            </a:pathLst>
          </a:custGeom>
          <a:solidFill>
            <a:srgbClr val="CFE0D6"/>
          </a:solidFill>
          <a:ln/>
        </p:spPr>
        <p:txBody>
          <a:bodyPr/>
          <a:p/>
        </p:txBody>
      </p:sp>
      <p:sp>
        <p:nvSpPr>
          <p:cNvPr id="206" name=""/>
          <p:cNvSpPr/>
          <p:nvPr/>
        </p:nvSpPr>
        <p:spPr>
          <a:xfrm rot="0" flipH="0" flipV="0">
            <a:off x="8248650" y="2857500"/>
            <a:ext cx="76200" cy="76200"/>
          </a:xfrm>
          <a:prstGeom prst="roundRect">
            <a:avLst>
              <a:gd name="adj" fmla="val 12487500"/>
            </a:avLst>
          </a:prstGeom>
          <a:solidFill>
            <a:srgbClr val="2E9E6F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420100" y="2781300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2B24"/>
                </a:solidFill>
                <a:latin typeface="Microsoft YaHei"/>
                <a:ea typeface="Microsoft YaHei"/>
              </a:rPr>
              <a:t>系统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85800" y="640080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6E66"/>
                </a:solidFill>
                <a:latin typeface="Microsoft YaHei"/>
                <a:ea typeface="Microsoft YaHei"/>
              </a:rPr>
              <a:t>DEAR </a:t>
            </a:r>
            <a:r>
              <a:rPr lang="zh-CN" sz="1050">
                <a:solidFill>
                  <a:srgbClr val="5E6E66"/>
                </a:solidFill>
                <a:latin typeface="Microsoft YaHei"/>
                <a:ea typeface="Microsoft YaHei"/>
              </a:rPr>
              <a:t>功能页布局方案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110490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6E66"/>
                </a:solidFill>
                <a:latin typeface="Microsoft YaHei"/>
                <a:ea typeface="Microsoft YaHei"/>
              </a:rPr>
              <a:t>05 / 11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10" name="" descr="&lt;Slide style={{ width: '1280px', height: '720px', background: '#F5F9F6' }}&gt;&#10;  &lt;Box style={{ height: '100%', flexDirection: 'column', alignItems: 'center', justifyContent: 'center', padding: '40px 96px' }}&gt;&#10;    &lt;svg width={120} height={120} viewBox='0 0 120 120'&gt;&#10;      &lt;circle cx='60' cy='60' r='56' fill='#2E9E6F' /&gt;&#10;      &lt;path d='M38 62 L54 78 L84 44' fill='none' stroke='#fff' strokeWidth='8' strokeLinecap='round' strokeLinejoin='round' /&gt;&#10;    &lt;/svg&gt;&#10;    &lt;Text style={{ fontSize: 46, fontWeight: 'bold', color: '#1E2B24', marginTop: 22 }}&gt;现在不用大改，只调细节&lt;/Text&gt;&#10;    &lt;Text style={{ fontSize: 20, color: '#5E6E66', marginTop: 12, marginBottom: 36 }}&gt;大框架（聊天是家 + 浮层小窗）已经站得住，剩下的都是「修修补补」&lt;/Text&gt;&#10;&#10;    &lt;Box style={{ flexDirection: 'row', gap: 22, width: '100%' }}&gt;&#10;      &lt;Box style={{ flex: 1, flexDirection: 'column', background: '#E3EFE8', borderRadius: 16, padding: '22px 22px' }}&gt;&#10;        &lt;Text style={{ fontSize: 22, fontWeight: 'bold', color: '#2E9E6F' }}&gt;① 家已经对了&lt;/Text&gt;&#10;        &lt;Text style={{ fontSize: 17, color: '#5E6E66', lineHeight: 1.6, marginTop: 10 }}&gt;聊天是常驻主页，这个不用动，天天用着顺手。&lt;/Text&gt;&#10;      &lt;/Box&gt;&#10;      &lt;Box style={{ flex: 1, flexDirection: 'column', background: '#E3EFE8', borderRadius: 16, padding: '22px 22px' }}&gt;&#10;        &lt;Text style={{ fontSize: 22, fontWeight: 'bold', color: '#2E9E6F' }}&gt;② 浮层补逻辑&lt;/Text&gt;&#10;        &lt;Text style={{ fontSize: 17, color: '#5E6E66', lineHeight: 1.6, marginTop: 10 }}&gt;原来「掀开小窗会叠住、关不掉」的毛病，修好逻辑就行，不是重做。&lt;/Text&gt;&#10;      &lt;/Box&gt;&#10;      &lt;Box style={{ flex: 1, flexDirection: 'column', background: '#E3EFE8', borderRadius: 16, padding: '22px 22px' }}&gt;&#10;        &lt;Text style={{ fontSize: 22, fontWeight: 'bold', color: '#2E9E6F' }}&gt;③ 视觉有规矩&lt;/Text&gt;&#10;        &lt;Text style={{ fontSize: 17, color: '#5E6E66', lineHeight: 1.6, marginTop: 10 }}&gt;颜色、字号、重点字都定好统一标准了，照着填即可。&lt;/Text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9F6"/>
          </a:solidFill>
          <a:ln/>
        </p:spPr>
        <p:txBody>
          <a:bodyPr/>
          <a:p/>
        </p:txBody>
      </p:sp>
      <p:pic>
        <p:nvPicPr>
          <p:cNvPr id="21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524500" y="1447800"/>
            <a:ext cx="1143000" cy="1143000"/>
          </a:xfrm>
          <a:prstGeom prst="rect">
            <a:avLst/>
          </a:prstGeom>
          <a:ln/>
        </p:spPr>
      </p:pic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3686175" y="2800350"/>
            <a:ext cx="481965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>
                <a:solidFill>
                  <a:srgbClr val="1E2B24"/>
                </a:solidFill>
                <a:latin typeface="Microsoft YaHei"/>
                <a:ea typeface="Microsoft YaHei"/>
              </a:rPr>
              <a:t>现在不用大改，只调细节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3114675" y="3448050"/>
            <a:ext cx="59721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5E6E66"/>
                </a:solidFill>
                <a:latin typeface="Microsoft YaHei"/>
                <a:ea typeface="Microsoft YaHei"/>
              </a:rPr>
              <a:t>大框架（聊天是家</a:t>
            </a:r>
            <a:r>
              <a:rPr lang="en-US" sz="1500">
                <a:solidFill>
                  <a:srgbClr val="5E6E66"/>
                </a:solidFill>
                <a:latin typeface="Microsoft YaHei"/>
                <a:ea typeface="Microsoft YaHei"/>
              </a:rPr>
              <a:t> + </a:t>
            </a:r>
            <a:r>
              <a:rPr lang="zh-CN" sz="1500">
                <a:solidFill>
                  <a:srgbClr val="5E6E66"/>
                </a:solidFill>
                <a:latin typeface="Microsoft YaHei"/>
                <a:ea typeface="Microsoft YaHei"/>
              </a:rPr>
              <a:t>浮层小窗）已经站得住，剩下的都是「修修补补」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914400" y="4019550"/>
            <a:ext cx="3314700" cy="1400175"/>
          </a:xfrm>
          <a:prstGeom prst="roundRect">
            <a:avLst>
              <a:gd name="adj" fmla="val 10884"/>
            </a:avLst>
          </a:prstGeom>
          <a:solidFill>
            <a:srgbClr val="E3EFE8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1123950" y="4229100"/>
            <a:ext cx="2895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E9E6F"/>
                </a:solidFill>
                <a:latin typeface="Microsoft YaHei"/>
                <a:ea typeface="Microsoft YaHei"/>
              </a:rPr>
              <a:t>① </a:t>
            </a:r>
            <a:r>
              <a:rPr lang="zh-CN" sz="1650" b="1">
                <a:solidFill>
                  <a:srgbClr val="2E9E6F"/>
                </a:solidFill>
                <a:latin typeface="Microsoft YaHei"/>
                <a:ea typeface="Microsoft YaHei"/>
              </a:rPr>
              <a:t>家已经对了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1123950" y="4581525"/>
            <a:ext cx="28956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5E6E66"/>
                </a:solidFill>
                <a:latin typeface="Microsoft YaHei"/>
                <a:ea typeface="Microsoft YaHei"/>
              </a:rPr>
              <a:t>聊天是常驻主页，这个不用动，天天用着顺手。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4438650" y="4019550"/>
            <a:ext cx="3314700" cy="1400175"/>
          </a:xfrm>
          <a:prstGeom prst="roundRect">
            <a:avLst>
              <a:gd name="adj" fmla="val 10884"/>
            </a:avLst>
          </a:prstGeom>
          <a:solidFill>
            <a:srgbClr val="E3EFE8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4648200" y="4229100"/>
            <a:ext cx="2895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E9E6F"/>
                </a:solidFill>
                <a:latin typeface="Microsoft YaHei"/>
                <a:ea typeface="Microsoft YaHei"/>
              </a:rPr>
              <a:t>② </a:t>
            </a:r>
            <a:r>
              <a:rPr lang="zh-CN" sz="1650" b="1">
                <a:solidFill>
                  <a:srgbClr val="2E9E6F"/>
                </a:solidFill>
                <a:latin typeface="Microsoft YaHei"/>
                <a:ea typeface="Microsoft YaHei"/>
              </a:rPr>
              <a:t>浮层补逻辑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4648200" y="4581525"/>
            <a:ext cx="28956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5E6E66"/>
                </a:solidFill>
                <a:latin typeface="Microsoft YaHei"/>
                <a:ea typeface="Microsoft YaHei"/>
              </a:rPr>
              <a:t>原来「掀开小窗会叠住、关不掉」的毛病，修好逻辑就行，不是重做。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7962900" y="4019550"/>
            <a:ext cx="3314700" cy="1400175"/>
          </a:xfrm>
          <a:prstGeom prst="roundRect">
            <a:avLst>
              <a:gd name="adj" fmla="val 10884"/>
            </a:avLst>
          </a:prstGeom>
          <a:solidFill>
            <a:srgbClr val="E3EFE8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8172450" y="4229100"/>
            <a:ext cx="2895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E9E6F"/>
                </a:solidFill>
                <a:latin typeface="Microsoft YaHei"/>
                <a:ea typeface="Microsoft YaHei"/>
              </a:rPr>
              <a:t>③ </a:t>
            </a:r>
            <a:r>
              <a:rPr lang="zh-CN" sz="1650" b="1">
                <a:solidFill>
                  <a:srgbClr val="2E9E6F"/>
                </a:solidFill>
                <a:latin typeface="Microsoft YaHei"/>
                <a:ea typeface="Microsoft YaHei"/>
              </a:rPr>
              <a:t>视觉有规矩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8172450" y="4581525"/>
            <a:ext cx="28956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5E6E66"/>
                </a:solidFill>
                <a:latin typeface="Microsoft YaHei"/>
                <a:ea typeface="Microsoft YaHei"/>
              </a:rPr>
              <a:t>颜色、字号、重点字都定好统一标准了，照着填即可。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24" name="" descr="&lt;Slide style={{ width: '1280px', height: '720px', background: '#F5F9F6' }}&gt;&#10;  &lt;Box style={{ height: '100%', flexDirection: 'column' }}&gt;&#10;    &lt;Box style={{ height: 110, padding: '26px 72px 0', justifyContent: 'flex-end' }}&gt;&#10;      &lt;Text style={{ fontSize: 14, color: '#2E9E6F', fontWeight: '600', letterSpacing: 1 }}&gt;方案 A · 推荐&lt;/Text&gt;&#10;      &lt;Text style={{ fontSize: 34, fontWeight: 'bold', color: '#1E2B24' }}&gt;手机底部 Tab：最稳的那一版&lt;/Text&gt;&#10;    &lt;/Box&gt;&#10;&#10;    &lt;Box style={{ height: 540, padding: '16px 72px', flexDirection: 'row', gap: 48, alignItems: 'center' }}&gt;&#10;      &lt;Box style={{ width: 300, alignItems: 'center' }}&gt;&#10;        &lt;svg width={240} height={470} viewBox='0 0 260 500'&gt;&#10;          &lt;rect x='10' y='10' width='240' height='480' rx='34' fill='#E3EFE8' stroke='#CFE0D6' strokeWidth='2' /&gt;&#10;          &lt;rect x='22' y='26' width='216' height='420' rx='20' fill='#F5F9F6' /&gt;&#10;          &lt;rect x='40' y='70' width='130' height='44' rx='14' fill='#E3EFE8' /&gt;&#10;          &lt;rect x='108' y='132' width='118' height='40' rx='14' fill='#2E9E6F' opacity='0.18' /&gt;&#10;          &lt;rect x='40' y='190' width='140' height='44' rx='14' fill='#E3EFE8' /&gt;&#10;          &lt;rect x='40' y='406' width='180' height='34' rx='17' fill='#FFFFFF' stroke='#CFE0D6' strokeWidth='2' /&gt;&#10;          &lt;rect x='22' y='452' width='216' height='46' rx='16' fill='#FFFFFF' stroke='#CFE0D6' strokeWidth='2' /&gt;&#10;          &lt;rect x='36' y='462' width='30' height='26' rx='8' fill='#2E9E6F' /&gt;&#10;          &lt;rect x='80' y='464' width='26' height='22' rx='7' fill='#CFE0D6' /&gt;&#10;          &lt;rect x='120' y='464' width='26' height='22' rx='7' fill='#CFE0D6' /&gt;&#10;          &lt;rect x='160' y='464' width='26' height='22' rx='7' fill='#CFE0D6' /&gt;&#10;          &lt;rect x='198' y='464' width='26' height='22' rx='7' fill='#CFE0D6' /&gt;&#10;        &lt;/svg&gt;&#10;        &lt;Text style={{ fontSize: 15, color: '#5E6E66', marginTop: 8 }}&gt;9 个功能收到底部一排小图标&lt;/Text&gt;&#10;      &lt;/Box&gt;&#10;&#10;      &lt;Box style={{ flex: 1, flexDirection: 'column', gap: 14 }}&gt;&#10;        &lt;Box style={{ alignSelf: 'flex-start', padding: '8px 16px', background: '#2E9E6F', borderRadius: 999 }}&gt;&#10;          &lt;Text style={{ fontSize: 16, color: '#fff', fontWeight: 'bold' }}&gt;★ 我最推荐&lt;/Text&gt;&#10;        &lt;/Box&gt;&#10;        &lt;Text style={{ fontSize: 19, color: '#1E2B24', lineHeight: 1.65 }}&gt;&#10;          9 个功能收到底部一排小图标，&lt;span style={{ color: '#2E9E6F', fontWeight: 'bold' }}&gt;大拇指一够就着&lt;/span&gt;。聊天占满整屏，点图标才掀开别的功能。&#10;        &lt;/Text&gt;&#10;        &lt;Box style={{ flexDirection: 'row', gap: 12, alignItems: 'flex-start' }}&gt;&#10;          &lt;Box style={{ width: 8, height: 8, borderRadius: 999, background: '#2E9E6F', marginTop: 9 }} /&gt;&#10;          &lt;Text style={{ fontSize: 18, color: '#5E6E66', lineHeight: 1.55 }}&gt;优点：单手好点（一加 12 大屏也稳）；最像常用 App，不饶弯。&lt;/Text&gt;&#10;        &lt;/Box&gt;&#10;        &lt;Box style={{ flexDirection: 'row', gap: 12, alignItems: 'flex-start' }}&gt;&#10;          &lt;Box style={{ width: 8, height: 8, borderRadius: 999, background: '#2E9E6F', marginTop: 9 }} /&gt;&#10;          &lt;Text style={{ fontSize: 18, color: '#5E6E66', lineHeight: 1.55 }}&gt;注意：9 个塞一排会挤，可藏成「更多 ▾」。&lt;/Text&gt;&#10;        &lt;/Box&gt;&#10;      &lt;/Box&gt;&#10;    &lt;/Box&gt;&#10;&#10;    &lt;Box style={{ height: 60, padding: '0 72px', flexDirection: 'row', justifyContent: 'space-between', alignItems: 'center' }}&gt;&#10;      &lt;Text style={{ fontSize: 14, color: '#5E6E66' }}&gt;DEAR 功能页布局方案&lt;/Text&gt;&#10;      &lt;Text style={{ fontSize: 14, color: '#5E6E66' }}&gt;07 / 11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9F6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685800" y="495300"/>
            <a:ext cx="1082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2E9E6F"/>
                </a:solidFill>
                <a:latin typeface="Microsoft YaHei"/>
                <a:ea typeface="Microsoft YaHei"/>
              </a:rPr>
              <a:t>方案</a:t>
            </a:r>
            <a:r>
              <a:rPr lang="en-US" sz="1050" b="1" spc="75">
                <a:solidFill>
                  <a:srgbClr val="2E9E6F"/>
                </a:solidFill>
                <a:latin typeface="Microsoft YaHei"/>
                <a:ea typeface="Microsoft YaHei"/>
              </a:rPr>
              <a:t> A · </a:t>
            </a:r>
            <a:r>
              <a:rPr lang="zh-CN" sz="1050" b="1" spc="75">
                <a:solidFill>
                  <a:srgbClr val="2E9E6F"/>
                </a:solidFill>
                <a:latin typeface="Microsoft YaHei"/>
                <a:ea typeface="Microsoft YaHei"/>
              </a:rPr>
              <a:t>推荐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685800" y="657225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2B24"/>
                </a:solidFill>
                <a:latin typeface="Microsoft YaHei"/>
                <a:ea typeface="Microsoft YaHei"/>
              </a:rPr>
              <a:t>手机底部</a:t>
            </a:r>
            <a:r>
              <a:rPr lang="en-US" sz="2550" b="1">
                <a:solidFill>
                  <a:srgbClr val="1E2B24"/>
                </a:solidFill>
                <a:latin typeface="Microsoft YaHei"/>
                <a:ea typeface="Microsoft YaHei"/>
              </a:rPr>
              <a:t> Tab</a:t>
            </a:r>
            <a:r>
              <a:rPr lang="zh-CN" sz="2550" b="1">
                <a:solidFill>
                  <a:srgbClr val="1E2B24"/>
                </a:solidFill>
                <a:latin typeface="Microsoft YaHei"/>
                <a:ea typeface="Microsoft YaHei"/>
              </a:rPr>
              <a:t>：最稳的那一版</a:t>
            </a:r>
            <a:endParaRPr/>
          </a:p>
        </p:txBody>
      </p:sp>
      <p:pic>
        <p:nvPicPr>
          <p:cNvPr id="2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71550" y="1257300"/>
            <a:ext cx="2286000" cy="4476750"/>
          </a:xfrm>
          <a:prstGeom prst="rect">
            <a:avLst/>
          </a:prstGeom>
          <a:ln/>
        </p:spPr>
      </p:pic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1190625" y="5810250"/>
            <a:ext cx="1847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E6E66"/>
                </a:solidFill>
                <a:latin typeface="Microsoft YaHei"/>
                <a:ea typeface="Microsoft YaHei"/>
              </a:rPr>
              <a:t>9 </a:t>
            </a:r>
            <a:r>
              <a:rPr lang="zh-CN" sz="1125">
                <a:solidFill>
                  <a:srgbClr val="5E6E66"/>
                </a:solidFill>
                <a:latin typeface="Microsoft YaHei"/>
                <a:ea typeface="Microsoft YaHei"/>
              </a:rPr>
              <a:t>个功能收到底部一排小图标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4000500" y="2743200"/>
            <a:ext cx="1085850" cy="342900"/>
          </a:xfrm>
          <a:prstGeom prst="roundRect">
            <a:avLst>
              <a:gd name="adj" fmla="val 2775000"/>
            </a:avLst>
          </a:prstGeom>
          <a:solidFill>
            <a:srgbClr val="2E9E6F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4152900" y="2819400"/>
            <a:ext cx="781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★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我最推荐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4000500" y="3219450"/>
            <a:ext cx="7505700" cy="3619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425">
                <a:solidFill>
                  <a:srgbClr val="1E2B24"/>
                </a:solidFill>
                <a:latin typeface="Microsoft YaHei"/>
                <a:ea typeface="Microsoft YaHei"/>
              </a:rPr>
              <a:t>9 </a:t>
            </a:r>
            <a:r>
              <a:rPr lang="zh-CN" sz="1425">
                <a:solidFill>
                  <a:srgbClr val="1E2B24"/>
                </a:solidFill>
                <a:latin typeface="Microsoft YaHei"/>
                <a:ea typeface="Microsoft YaHei"/>
              </a:rPr>
              <a:t>个功能收到底部一排小图标，</a:t>
            </a:r>
            <a:r>
              <a:rPr lang="zh-CN" sz="1425" b="1">
                <a:solidFill>
                  <a:srgbClr val="2E9E6F"/>
                </a:solidFill>
                <a:latin typeface="Microsoft YaHei"/>
                <a:ea typeface="Microsoft YaHei"/>
              </a:rPr>
              <a:t>大拇指一够就着</a:t>
            </a:r>
            <a:r>
              <a:rPr lang="zh-CN" sz="1425">
                <a:solidFill>
                  <a:srgbClr val="1E2B24"/>
                </a:solidFill>
                <a:latin typeface="Microsoft YaHei"/>
                <a:ea typeface="Microsoft YaHei"/>
              </a:rPr>
              <a:t>。聊天占满整屏，点图标才掀开别的功能。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4000500" y="3800475"/>
            <a:ext cx="76200" cy="76200"/>
          </a:xfrm>
          <a:prstGeom prst="roundRect">
            <a:avLst>
              <a:gd name="adj" fmla="val 12487500"/>
            </a:avLst>
          </a:prstGeom>
          <a:solidFill>
            <a:srgbClr val="2E9E6F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4191000" y="3714750"/>
            <a:ext cx="4981575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5E6E66"/>
                </a:solidFill>
                <a:latin typeface="Microsoft YaHei"/>
                <a:ea typeface="Microsoft YaHei"/>
              </a:rPr>
              <a:t>优点：单手好点（一加</a:t>
            </a:r>
            <a:r>
              <a:rPr lang="en-US" sz="1350">
                <a:solidFill>
                  <a:srgbClr val="5E6E66"/>
                </a:solidFill>
                <a:latin typeface="Microsoft YaHei"/>
                <a:ea typeface="Microsoft YaHei"/>
              </a:rPr>
              <a:t> 12 </a:t>
            </a:r>
            <a:r>
              <a:rPr lang="zh-CN" sz="1350">
                <a:solidFill>
                  <a:srgbClr val="5E6E66"/>
                </a:solidFill>
                <a:latin typeface="Microsoft YaHei"/>
                <a:ea typeface="Microsoft YaHei"/>
              </a:rPr>
              <a:t>大屏也稳）；最像常用</a:t>
            </a:r>
            <a:r>
              <a:rPr lang="en-US" sz="1350">
                <a:solidFill>
                  <a:srgbClr val="5E6E66"/>
                </a:solidFill>
                <a:latin typeface="Microsoft YaHei"/>
                <a:ea typeface="Microsoft YaHei"/>
              </a:rPr>
              <a:t> App</a:t>
            </a:r>
            <a:r>
              <a:rPr lang="zh-CN" sz="1350">
                <a:solidFill>
                  <a:srgbClr val="5E6E66"/>
                </a:solidFill>
                <a:latin typeface="Microsoft YaHei"/>
                <a:ea typeface="Microsoft YaHei"/>
              </a:rPr>
              <a:t>，不饶弯。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4000500" y="4257675"/>
            <a:ext cx="76200" cy="76200"/>
          </a:xfrm>
          <a:prstGeom prst="roundRect">
            <a:avLst>
              <a:gd name="adj" fmla="val 12487500"/>
            </a:avLst>
          </a:prstGeom>
          <a:solidFill>
            <a:srgbClr val="2E9E6F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4191000" y="4171950"/>
            <a:ext cx="3400425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5E6E66"/>
                </a:solidFill>
                <a:latin typeface="Microsoft YaHei"/>
                <a:ea typeface="Microsoft YaHei"/>
              </a:rPr>
              <a:t>注意：</a:t>
            </a:r>
            <a:r>
              <a:rPr lang="en-US" sz="1350">
                <a:solidFill>
                  <a:srgbClr val="5E6E66"/>
                </a:solidFill>
                <a:latin typeface="Microsoft YaHei"/>
                <a:ea typeface="Microsoft YaHei"/>
              </a:rPr>
              <a:t>9 </a:t>
            </a:r>
            <a:r>
              <a:rPr lang="zh-CN" sz="1350">
                <a:solidFill>
                  <a:srgbClr val="5E6E66"/>
                </a:solidFill>
                <a:latin typeface="Microsoft YaHei"/>
                <a:ea typeface="Microsoft YaHei"/>
              </a:rPr>
              <a:t>个塞一排会挤，可藏成「更多</a:t>
            </a:r>
            <a:r>
              <a:rPr lang="en-US" sz="1350">
                <a:solidFill>
                  <a:srgbClr val="5E6E66"/>
                </a:solidFill>
                <a:latin typeface="Microsoft YaHei"/>
                <a:ea typeface="Microsoft YaHei"/>
              </a:rPr>
              <a:t> ▾</a:t>
            </a:r>
            <a:r>
              <a:rPr lang="zh-CN" sz="1350">
                <a:solidFill>
                  <a:srgbClr val="5E6E66"/>
                </a:solidFill>
                <a:latin typeface="Microsoft YaHei"/>
                <a:ea typeface="Microsoft YaHei"/>
              </a:rPr>
              <a:t>」。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85800" y="640080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6E66"/>
                </a:solidFill>
                <a:latin typeface="Microsoft YaHei"/>
                <a:ea typeface="Microsoft YaHei"/>
              </a:rPr>
              <a:t>DEAR </a:t>
            </a:r>
            <a:r>
              <a:rPr lang="zh-CN" sz="1050">
                <a:solidFill>
                  <a:srgbClr val="5E6E66"/>
                </a:solidFill>
                <a:latin typeface="Microsoft YaHei"/>
                <a:ea typeface="Microsoft YaHei"/>
              </a:rPr>
              <a:t>功能页布局方案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110490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6E66"/>
                </a:solidFill>
                <a:latin typeface="Microsoft YaHei"/>
                <a:ea typeface="Microsoft YaHei"/>
              </a:rPr>
              <a:t>07 / 11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39" name="" descr="&lt;Slide style={{ width: '1280px', height: '720px', background: '#F5F9F6' }}&gt;&#10;  &lt;Box style={{ height: '100%', flexDirection: 'column' }}&gt;&#10;    &lt;Box style={{ height: 110, padding: '26px 72px 0', justifyContent: 'flex-end' }}&gt;&#10;      &lt;Text style={{ fontSize: 14, color: '#2E9E6F', fontWeight: '600', letterSpacing: 1 }}&gt;方案 B&lt;/Text&gt;&#10;      &lt;Text style={{ fontSize: 34, fontWeight: 'bold', color: '#1E2B24' }}&gt;底部上滑抽屉：最极简&lt;/Text&gt;&#10;    &lt;/Box&gt;&#10;&#10;    &lt;Box style={{ height: 540, padding: '16px 72px', flexDirection: 'row', gap: 48, alignItems: 'center' }}&gt;&#10;      &lt;Box style={{ flex: 1, flexDirection: 'column', gap: 14 }}&gt;&#10;        &lt;Text style={{ fontSize: 19, color: '#1E2B24', lineHeight: 1.65 }}&gt;&#10;          聊天&lt;span style={{ color: '#2E9E6F', fontWeight: 'bold' }}&gt;全屏铺满&lt;/span&gt;，底部一条小横杠；往上一滑，9 个功能像抽屉一样弹出来。&#10;        &lt;/Text&gt;&#10;        &lt;Box style={{ flexDirection: 'row', gap: 12, alignItems: 'flex-start' }}&gt;&#10;          &lt;Box style={{ width: 8, height: 8, borderRadius: 999, background: '#2E9E6F', marginTop: 9 }} /&gt;&#10;          &lt;Text style={{ fontSize: 18, color: '#5E6E66', lineHeight: 1.55 }}&gt;优点：聊天更满屏、更沉浸；平时干干净净。&lt;/Text&gt;&#10;        &lt;/Box&gt;&#10;        &lt;Box style={{ flexDirection: 'row', gap: 12, alignItems: 'flex-start' }}&gt;&#10;          &lt;Box style={{ width: 8, height: 8, borderRadius: 999, background: '#2E9E6F', marginTop: 9 }} /&gt;&#10;          &lt;Text style={{ fontSize: 18, color: '#5E6E66', lineHeight: 1.55 }}&gt;注意：多一步「上滑」才看到功能；上滑手势别和聊天滚动打架。&lt;/Text&gt;&#10;        &lt;/Box&gt;&#10;      &lt;/Box&gt;&#10;&#10;      &lt;Box style={{ width: 300, alignItems: 'center' }}&gt;&#10;        &lt;svg width={240} height={470} viewBox='0 0 260 500'&gt;&#10;          &lt;rect x='10' y='10' width='240' height='480' rx='34' fill='#E3EFE8' stroke='#CFE0D6' strokeWidth='2' /&gt;&#10;          &lt;rect x='22' y='26' width='216' height='420' rx='20' fill='#F5F9F6' /&gt;&#10;          &lt;rect x='40' y='64' width='130' height='42' rx='14' fill='#E3EFE8' /&gt;&#10;          &lt;rect x='108' y='120' width='110' height='38' rx='14' fill='#2E9E6F' opacity='0.18' /&gt;&#10;          &lt;rect x='22' y='300' width='216' height='202' rx='20' fill='#FFFFFF' stroke='#2E9E6F' strokeWidth='2' /&gt;&#10;          &lt;rect x='110' y='314' width='40' height='6' rx='3' fill='#CFE0D6' /&gt;&#10;          &lt;rect x='44' y='336' width='44' height='40' rx='10' fill='#2E9E6F' /&gt;&#10;          &lt;rect x='100' y='336' width='44' height='40' rx='10' fill='#E3EFE8' /&gt;&#10;          &lt;rect x='156' y='336' width='44' height='40' rx='10' fill='#E3EFE8' /&gt;&#10;          &lt;rect x='44' y='392' width='44' height='40' rx='10' fill='#E3EFE8' /&gt;&#10;          &lt;rect x='100' y='392' width='44' height='40' rx='10' fill='#E3EFE8' /&gt;&#10;          &lt;rect x='156' y='392' width='44' height='40' rx='10' fill='#E3EFE8' /&gt;&#10;          &lt;rect x='44' y='448' width='44' height='40' rx='10' fill='#E3EFE8' /&gt;&#10;          &lt;rect x='100' y='448' width='44' height='40' rx='10' fill='#E3EFE8' /&gt;&#10;          &lt;rect x='156' y='448' width='44' height='40' rx='10' fill='#E3EFE8' /&gt;&#10;        &lt;/svg&gt;&#10;        &lt;Text style={{ fontSize: 15, color: '#5E6E66', marginTop: 8 }}&gt;上滑唤出功能抽屉（九宫格）&lt;/Text&gt;&#10;      &lt;/Box&gt;&#10;    &lt;/Box&gt;&#10;&#10;    &lt;Box style={{ height: 60, padding: '0 72px', flexDirection: 'row', justifyContent: 'space-between', alignItems: 'center' }}&gt;&#10;      &lt;Text style={{ fontSize: 14, color: '#5E6E66' }}&gt;DEAR 功能页布局方案&lt;/Text&gt;&#10;      &lt;Text style={{ fontSize: 14, color: '#5E6E66' }}&gt;08 / 11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9F6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85800" y="495300"/>
            <a:ext cx="1082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2E9E6F"/>
                </a:solidFill>
                <a:latin typeface="Microsoft YaHei"/>
                <a:ea typeface="Microsoft YaHei"/>
              </a:rPr>
              <a:t>方案</a:t>
            </a:r>
            <a:r>
              <a:rPr lang="en-US" sz="1050" b="1" spc="75">
                <a:solidFill>
                  <a:srgbClr val="2E9E6F"/>
                </a:solidFill>
                <a:latin typeface="Microsoft YaHei"/>
                <a:ea typeface="Microsoft YaHei"/>
              </a:rPr>
              <a:t> B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85800" y="657225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2B24"/>
                </a:solidFill>
                <a:latin typeface="Microsoft YaHei"/>
                <a:ea typeface="Microsoft YaHei"/>
              </a:rPr>
              <a:t>底部上滑抽屉：最极简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685800" y="2981325"/>
            <a:ext cx="7505700" cy="3619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425">
                <a:solidFill>
                  <a:srgbClr val="1E2B24"/>
                </a:solidFill>
                <a:latin typeface="Microsoft YaHei"/>
                <a:ea typeface="Microsoft YaHei"/>
              </a:rPr>
              <a:t>聊天</a:t>
            </a:r>
            <a:r>
              <a:rPr lang="zh-CN" sz="1425" b="1">
                <a:solidFill>
                  <a:srgbClr val="2E9E6F"/>
                </a:solidFill>
                <a:latin typeface="Microsoft YaHei"/>
                <a:ea typeface="Microsoft YaHei"/>
              </a:rPr>
              <a:t>全屏铺满</a:t>
            </a:r>
            <a:r>
              <a:rPr lang="zh-CN" sz="1425">
                <a:solidFill>
                  <a:srgbClr val="1E2B24"/>
                </a:solidFill>
                <a:latin typeface="Microsoft YaHei"/>
                <a:ea typeface="Microsoft YaHei"/>
              </a:rPr>
              <a:t>，底部一条小横杠；往上一滑，</a:t>
            </a:r>
            <a:r>
              <a:rPr lang="en-US" sz="1425">
                <a:solidFill>
                  <a:srgbClr val="1E2B24"/>
                </a:solidFill>
                <a:latin typeface="Microsoft YaHei"/>
                <a:ea typeface="Microsoft YaHei"/>
              </a:rPr>
              <a:t>9 </a:t>
            </a:r>
            <a:r>
              <a:rPr lang="zh-CN" sz="1425">
                <a:solidFill>
                  <a:srgbClr val="1E2B24"/>
                </a:solidFill>
                <a:latin typeface="Microsoft YaHei"/>
                <a:ea typeface="Microsoft YaHei"/>
              </a:rPr>
              <a:t>个功能像抽屉一样弹出来。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685800" y="3562350"/>
            <a:ext cx="76200" cy="76200"/>
          </a:xfrm>
          <a:prstGeom prst="roundRect">
            <a:avLst>
              <a:gd name="adj" fmla="val 12487500"/>
            </a:avLst>
          </a:prstGeom>
          <a:solidFill>
            <a:srgbClr val="2E9E6F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876300" y="3476625"/>
            <a:ext cx="342900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5E6E66"/>
                </a:solidFill>
                <a:latin typeface="Microsoft YaHei"/>
                <a:ea typeface="Microsoft YaHei"/>
              </a:rPr>
              <a:t>优点：聊天更满屏、更沉浸；平时干干净净。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685800" y="4019550"/>
            <a:ext cx="76200" cy="76200"/>
          </a:xfrm>
          <a:prstGeom prst="roundRect">
            <a:avLst>
              <a:gd name="adj" fmla="val 12487500"/>
            </a:avLst>
          </a:prstGeom>
          <a:solidFill>
            <a:srgbClr val="2E9E6F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876300" y="3933825"/>
            <a:ext cx="497205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5E6E66"/>
                </a:solidFill>
                <a:latin typeface="Microsoft YaHei"/>
                <a:ea typeface="Microsoft YaHei"/>
              </a:rPr>
              <a:t>注意：多一步「上滑」才看到功能；上滑手势别和聊天滚动打架。</a:t>
            </a:r>
            <a:endParaRPr/>
          </a:p>
        </p:txBody>
      </p:sp>
      <p:pic>
        <p:nvPicPr>
          <p:cNvPr id="2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934450" y="1257300"/>
            <a:ext cx="2286000" cy="4476750"/>
          </a:xfrm>
          <a:prstGeom prst="rect">
            <a:avLst/>
          </a:prstGeom>
          <a:ln/>
        </p:spPr>
      </p:pic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9153525" y="5810250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E6E66"/>
                </a:solidFill>
                <a:latin typeface="Microsoft YaHei"/>
                <a:ea typeface="Microsoft YaHei"/>
              </a:rPr>
              <a:t>上滑唤出功能抽屉（九宫格）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685800" y="640080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6E66"/>
                </a:solidFill>
                <a:latin typeface="Microsoft YaHei"/>
                <a:ea typeface="Microsoft YaHei"/>
              </a:rPr>
              <a:t>DEAR </a:t>
            </a:r>
            <a:r>
              <a:rPr lang="zh-CN" sz="1050">
                <a:solidFill>
                  <a:srgbClr val="5E6E66"/>
                </a:solidFill>
                <a:latin typeface="Microsoft YaHei"/>
                <a:ea typeface="Microsoft YaHei"/>
              </a:rPr>
              <a:t>功能页布局方案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110490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6E66"/>
                </a:solidFill>
                <a:latin typeface="Microsoft YaHei"/>
                <a:ea typeface="Microsoft YaHei"/>
              </a:rPr>
              <a:t>08 / 11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52" name="" descr="&lt;Slide style={{ width: '1280px', height: '720px', background: '#F5F9F6' }}&gt;&#10;  &lt;Box style={{ height: '100%', flexDirection: 'column' }}&gt;&#10;    &lt;Box style={{ height: 110, padding: '26px 72px 0', justifyContent: 'flex-end' }}&gt;&#10;      &lt;Text style={{ fontSize: 14, color: '#2E9E6F', fontWeight: '600', letterSpacing: 1 }}&gt;方案 C&lt;/Text&gt;&#10;      &lt;Text style={{ fontSize: 34, fontWeight: 'bold', color: '#1E2B24' }}&gt;桌面侧栏 + 手机底部：双形态&lt;/Text&gt;&#10;    &lt;/Box&gt;&#10;&#10;    &lt;Box style={{ height: 540, padding: '14px 72px', flexDirection: 'column', gap: 14, justifyContent: 'center' }}&gt;&#10;      &lt;Text style={{ fontSize: 19, color: '#1E2B24', lineHeight: 1.6, textAlign: 'center' }}&gt;&#10;        电脑上&lt;span style={{ color: '#2E9E6F', fontWeight: 'bold' }}&gt;左侧一排导航&lt;/span&gt;，手机上&lt;span style={{ color: '#2E9E6F', fontWeight: 'bold' }}&gt;底部一排 Tab&lt;/span&gt;——同一套功能，两种摆法。&#10;      &lt;/Text&gt;&#10;&#10;      &lt;Box style={{ flexDirection: 'row', gap: 40, alignItems: 'center', justifyContent: 'center' }}&gt;&#10;        &lt;Box style={{ flexDirection: 'column', alignItems: 'center', gap: 10 }}&gt;&#10;          &lt;svg width={540} height={330} viewBox='0 0 600 370'&gt;&#10;            &lt;rect x='10' y='10' width='580' height='350' rx='18' fill='#F5F9F6' stroke='#CFE0D6' strokeWidth='2' /&gt;&#10;            &lt;rect x='10' y='10' width='118' height='350' rx='18' fill='#E3EFE8' /&gt;&#10;            &lt;rect x='26' y='30' width='86' height='26' rx='8' fill='#2E9E6F' /&gt;&#10;            &lt;rect x='26' y='66' width='86' height='22' rx='7' fill='#CFE0D6' /&gt;&#10;            &lt;rect x='26' y='100' width='86' height='22' rx='7' fill='#CFE0D6' /&gt;&#10;            &lt;rect x='26' y='134' width='86' height='22' rx='7' fill='#CFE0D6' /&gt;&#10;            &lt;rect x='26' y='168' width='86' height='22' rx='7' fill='#CFE0D6' /&gt;&#10;            &lt;rect x='26' y='202' width='86' height='22' rx='7' fill='#CFE0D6' /&gt;&#10;            &lt;rect x='26' y='236' width='86' height='22' rx='7' fill='#CFE0D6' /&gt;&#10;            &lt;rect x='26' y='270' width='86' height='22' rx='7' fill='#CFE0D6' /&gt;&#10;            &lt;rect x='26' y='304' width='86' height='22' rx='7' fill='#CFE0D6' /&gt;&#10;            &lt;rect x='160' y='48' width='200' height='40' rx='12' fill='#E3EFE8' /&gt;&#10;            &lt;rect x='300' y='108' width='180' height='36' rx='12' fill='#2E9E6F' opacity='0.18' /&gt;&#10;            &lt;rect x='160' y='168' width='220' height='40' rx='12' fill='#E3EFE8' /&gt;&#10;            &lt;rect x='160' y='310' width='390' height='32' rx='16' fill='#FFFFFF' stroke='#CFE0D6' strokeWidth='2' /&gt;&#10;          &lt;/svg&gt;&#10;          &lt;Text style={{ fontSize: 16, color: '#5E6E66' }}&gt;电脑端：左侧常驻导航栏&lt;/Text&gt;&#10;        &lt;/Box&gt;&#10;&#10;        &lt;Box style={{ flexDirection: 'column', alignItems: 'center', gap: 10 }}&gt;&#10;          &lt;svg width={190} height={370} viewBox='0 0 260 500'&gt;&#10;            &lt;rect x='10' y='10' width='240' height='480' rx='34' fill='#E3EFE8' stroke='#CFE0D6' strokeWidth='2' /&gt;&#10;            &lt;rect x='22' y='26' width='216' height='420' rx='20' fill='#F5F9F6' /&gt;&#10;            &lt;rect x='40' y='70' width='130' height='40' rx='14' fill='#E3EFE8' /&gt;&#10;            &lt;rect x='108' y='128' width='110' height='36' rx='14' fill='#2E9E6F' opacity='0.18' /&gt;&#10;            &lt;rect x='22' y='452' width='216' height='46' rx='16' fill='#FFFFFF' stroke='#CFE0D6' strokeWidth='2' /&gt;&#10;            &lt;rect x='36' y='462' width='30' height='26' rx='8' fill='#2E9E6F' /&gt;&#10;            &lt;rect x='80' y='464' width='26' height='22' rx='7' fill='#CFE0D6' /&gt;&#10;            &lt;rect x='120' y='464' width='26' height='22' rx='7' fill='#CFE0D6' /&gt;&#10;            &lt;rect x='160' y='464' width='26' height='22' rx='7' fill='#CFE0D6' /&gt;&#10;            &lt;rect x='198' y='464' width='26' height='22' rx='7' fill='#CFE0D6' /&gt;&#10;          &lt;/svg&gt;&#10;          &lt;Text style={{ fontSize: 16, color: '#5E6E66' }}&gt;手机端：底部 Tab&lt;/Text&gt;&#10;        &lt;/Box&gt;&#10;      &lt;/Box&gt;&#10;&#10;      &lt;Box style={{ flexDirection: 'row', gap: 12, justifyContent: 'center', marginTop: 4 }}&gt;&#10;        &lt;Text style={{ fontSize: 17, color: '#5E6E66' }}&gt;最完整，但也要做两套适配——&lt;/Text&gt;&#10;        &lt;Text style={{ fontSize: 17, color: '#2E9E6F', fontWeight: 'bold' }}&gt;最重，适合常坐电脑前的你。&lt;/Text&gt;&#10;      &lt;/Box&gt;&#10;    &lt;/Box&gt;&#10;&#10;    &lt;Box style={{ height: 60, padding: '0 72px', flexDirection: 'row', justifyContent: 'space-between', alignItems: 'center' }}&gt;&#10;      &lt;Text style={{ fontSize: 14, color: '#5E6E66' }}&gt;DEAR 功能页布局方案&lt;/Text&gt;&#10;      &lt;Text style={{ fontSize: 14, color: '#5E6E66' }}&gt;09 / 11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9F6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85800" y="495300"/>
            <a:ext cx="1082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2E9E6F"/>
                </a:solidFill>
                <a:latin typeface="Microsoft YaHei"/>
                <a:ea typeface="Microsoft YaHei"/>
              </a:rPr>
              <a:t>方案</a:t>
            </a:r>
            <a:r>
              <a:rPr lang="en-US" sz="1050" b="1" spc="75">
                <a:solidFill>
                  <a:srgbClr val="2E9E6F"/>
                </a:solidFill>
                <a:latin typeface="Microsoft YaHei"/>
                <a:ea typeface="Microsoft YaHei"/>
              </a:rPr>
              <a:t> C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685800" y="657225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2B24"/>
                </a:solidFill>
                <a:latin typeface="Microsoft YaHei"/>
                <a:ea typeface="Microsoft YaHei"/>
              </a:rPr>
              <a:t>桌面侧栏</a:t>
            </a:r>
            <a:r>
              <a:rPr lang="en-US" sz="2550" b="1">
                <a:solidFill>
                  <a:srgbClr val="1E2B24"/>
                </a:solidFill>
                <a:latin typeface="Microsoft YaHei"/>
                <a:ea typeface="Microsoft YaHei"/>
              </a:rPr>
              <a:t> + </a:t>
            </a:r>
            <a:r>
              <a:rPr lang="zh-CN" sz="2550" b="1">
                <a:solidFill>
                  <a:srgbClr val="1E2B24"/>
                </a:solidFill>
                <a:latin typeface="Microsoft YaHei"/>
                <a:ea typeface="Microsoft YaHei"/>
              </a:rPr>
              <a:t>手机底部：双形态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685800" y="1285875"/>
            <a:ext cx="10820400" cy="35242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1425">
                <a:solidFill>
                  <a:srgbClr val="1E2B24"/>
                </a:solidFill>
                <a:latin typeface="Microsoft YaHei"/>
                <a:ea typeface="Microsoft YaHei"/>
              </a:rPr>
              <a:t>电脑上</a:t>
            </a:r>
            <a:r>
              <a:rPr lang="zh-CN" sz="1425" b="1">
                <a:solidFill>
                  <a:srgbClr val="2E9E6F"/>
                </a:solidFill>
                <a:latin typeface="Microsoft YaHei"/>
                <a:ea typeface="Microsoft YaHei"/>
              </a:rPr>
              <a:t>左侧一排导航</a:t>
            </a:r>
            <a:r>
              <a:rPr lang="zh-CN" sz="1425">
                <a:solidFill>
                  <a:srgbClr val="1E2B24"/>
                </a:solidFill>
                <a:latin typeface="Microsoft YaHei"/>
                <a:ea typeface="Microsoft YaHei"/>
              </a:rPr>
              <a:t>，手机上</a:t>
            </a:r>
            <a:r>
              <a:rPr lang="zh-CN" sz="1425" b="1">
                <a:solidFill>
                  <a:srgbClr val="2E9E6F"/>
                </a:solidFill>
                <a:latin typeface="Microsoft YaHei"/>
                <a:ea typeface="Microsoft YaHei"/>
              </a:rPr>
              <a:t>底部一排</a:t>
            </a:r>
            <a:r>
              <a:rPr lang="en-US" sz="1425" b="1">
                <a:solidFill>
                  <a:srgbClr val="2E9E6F"/>
                </a:solidFill>
                <a:latin typeface="Microsoft YaHei"/>
                <a:ea typeface="Microsoft YaHei"/>
              </a:rPr>
              <a:t> Tab</a:t>
            </a:r>
            <a:r>
              <a:rPr lang="zh-CN" sz="1425">
                <a:solidFill>
                  <a:srgbClr val="1E2B24"/>
                </a:solidFill>
                <a:latin typeface="Microsoft YaHei"/>
                <a:ea typeface="Microsoft YaHei"/>
              </a:rPr>
              <a:t>——同一套功能，两种摆法。</a:t>
            </a:r>
            <a:endParaRPr/>
          </a:p>
        </p:txBody>
      </p:sp>
      <p:pic>
        <p:nvPicPr>
          <p:cNvPr id="25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428875" y="1962150"/>
            <a:ext cx="5143500" cy="3143250"/>
          </a:xfrm>
          <a:prstGeom prst="rect">
            <a:avLst/>
          </a:prstGeom>
          <a:ln/>
        </p:spPr>
      </p:pic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4162425" y="5200650"/>
            <a:ext cx="167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E6E66"/>
                </a:solidFill>
                <a:latin typeface="Microsoft YaHei"/>
                <a:ea typeface="Microsoft YaHei"/>
              </a:rPr>
              <a:t>电脑端：左侧常驻导航栏</a:t>
            </a:r>
            <a:endParaRPr/>
          </a:p>
        </p:txBody>
      </p:sp>
      <p:pic>
        <p:nvPicPr>
          <p:cNvPr id="2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953375" y="1771650"/>
            <a:ext cx="1809750" cy="3524250"/>
          </a:xfrm>
          <a:prstGeom prst="rect">
            <a:avLst/>
          </a:prstGeom>
          <a:ln/>
        </p:spPr>
      </p:pic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8248650" y="539115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E6E66"/>
                </a:solidFill>
                <a:latin typeface="Microsoft YaHei"/>
                <a:ea typeface="Microsoft YaHei"/>
              </a:rPr>
              <a:t>手机端：底部</a:t>
            </a:r>
            <a:r>
              <a:rPr lang="en-US" sz="1200">
                <a:solidFill>
                  <a:srgbClr val="5E6E66"/>
                </a:solidFill>
                <a:latin typeface="Microsoft YaHei"/>
                <a:ea typeface="Microsoft YaHei"/>
              </a:rPr>
              <a:t> Tab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3838575" y="5753100"/>
            <a:ext cx="22955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E6E66"/>
                </a:solidFill>
                <a:latin typeface="Microsoft YaHei"/>
                <a:ea typeface="Microsoft YaHei"/>
              </a:rPr>
              <a:t>最完整，但也要做两套适配——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6248400" y="5753100"/>
            <a:ext cx="2105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E9E6F"/>
                </a:solidFill>
                <a:latin typeface="Microsoft YaHei"/>
                <a:ea typeface="Microsoft YaHei"/>
              </a:rPr>
              <a:t>最重，适合常坐电脑前的你。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685800" y="640080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6E66"/>
                </a:solidFill>
                <a:latin typeface="Microsoft YaHei"/>
                <a:ea typeface="Microsoft YaHei"/>
              </a:rPr>
              <a:t>DEAR </a:t>
            </a:r>
            <a:r>
              <a:rPr lang="zh-CN" sz="1050">
                <a:solidFill>
                  <a:srgbClr val="5E6E66"/>
                </a:solidFill>
                <a:latin typeface="Microsoft YaHei"/>
                <a:ea typeface="Microsoft YaHei"/>
              </a:rPr>
              <a:t>功能页布局方案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110490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6E66"/>
                </a:solidFill>
                <a:latin typeface="Microsoft YaHei"/>
                <a:ea typeface="Microsoft YaHei"/>
              </a:rPr>
              <a:t>09 / 11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3" name="" descr="&lt;Slide style={{ width: '1280px', height: '720px', background: '#F5F9F6' }}&gt;&#10;  {(() =&gt; {&#10;    const rows = [&#10;      { k: '单手好点', a: '优', b: '中', c: '优（手机）' },&#10;      { k: '聊天沉浸', a: '中', b: '优', c: '中' },&#10;      { k: '实现成本', a: '低', b: '中', c: '高' },&#10;      { k: '适合谁', a: '大众', b: '极简党', c: '常坐电脑' },&#10;    ];&#10;    const cell = (txt, hi) =&gt; (&#10;      &lt;Box style={{ flex: 1, alignItems: 'center', justifyContent: 'center', padding: '14px 8px', background: hi ? 'rgba(46,158,111,0.12)' : '#E3EFE8', border: hi ? '1.5px solid #2E9E6F' : '1px solid #CFE0D6', borderRadius: 10 }}&gt;&#10;        &lt;Text style={{ fontSize: 17, color: hi ? '#2E9E6F' : '#1E2B24', fontWeight: hi ? 'bold' : 'normal' }}&gt;{txt}&lt;/Text&gt;&#10;      &lt;/Box&gt;&#10;    );&#10;    return (&#10;      &lt;Box style={{ height: '100%', flexDirection: 'column' }}&gt;&#10;        &lt;Box style={{ height: 110, padding: '26px 72px 0', justifyContent: 'flex-end' }}&gt;&#10;          &lt;Text style={{ fontSize: 14, color: '#2E9E6F', fontWeight: '600', letterSpacing: 1 }}&gt;三方案摆一起看&lt;/Text&gt;&#10;          &lt;Text style={{ fontSize: 34, fontWeight: 'bold', color: '#1E2B24' }}&gt;对比 + 我的建议&lt;/Text&gt;&#10;        &lt;/Box&gt;&#10;&#10;        &lt;Box style={{ height: 540, padding: '16px 72px', flexDirection: 'column', gap: 12, justifyContent: 'center' }}&gt;&#10;          &lt;Box style={{ flexDirection: 'row', gap: 12 }}&gt;&#10;            &lt;Box style={{ width: 220, alignItems: 'center', justifyContent: 'center', padding: '14px 8px', background: '#2E9E6F', borderRadius: 10 }}&gt;&#10;              &lt;Text style={{ fontSize: 17, color: '#fff', fontWeight: 'bold' }}&gt;维度&lt;/Text&gt;&#10;            &lt;/Box&gt;&#10;            {cell('A · 底部 Tab', true)}&#10;            {cell('B · 上滑抽屉', false)}&#10;            {cell('C · 双形态', false)}&#10;          &lt;/Box&gt;&#10;          {rows.map((r, i) =&gt; (&#10;            &lt;Box key={i} style={{ flexDirection: 'row', gap: 12 }}&gt;&#10;              &lt;Box style={{ width: 220, alignItems: 'center', justifyContent: 'center', padding: '14px 8px', background: '#FFFFFF', border: '1px solid #CFE0D6', borderRadius: 10 }}&gt;&#10;                &lt;Text style={{ fontSize: 17, color: '#1E2B24', fontWeight: '600' }}&gt;{r.k}&lt;/Text&gt;&#10;              &lt;/Box&gt;&#10;              {cell(r.a, true)}&#10;              {cell(r.b, false)}&#10;              {cell(r.c, false)}&#10;            &lt;/Box&gt;&#10;          ))}&#10;&#10;          &lt;Box style={{ marginTop: 6, padding: '16px 22px', background: 'rgba(46,158,111,0.12)', border: '1.5px solid #2E9E6F', borderRadius: 12, flexDirection: 'row', alignItems: 'center', gap: 12 }}&gt;&#10;            &lt;Text style={{ fontSize: 20, color: '#2E9E6F', fontWeight: 'bold' }}&gt;我的建议&lt;/Text&gt;&#10;            &lt;Text style={{ fontSize: 19, color: '#1E2B24', lineHeight: 1.5 }}&gt;先做 A（底部 Tab）——最稳、最像常用 App；B/C 等你用顺了再考虑。&lt;/Text&gt;&#10;          &lt;/Box&gt;&#10;        &lt;/Box&gt;&#10;&#10;        &lt;Box style={{ height: 60, padding: '0 72px', flexDirection: 'row', justifyContent: 'space-between', alignItems: 'center' }}&gt;&#10;          &lt;Text style={{ fontSize: 14, color: '#5E6E66' }}&gt;DEAR 功能页布局方案&lt;/Text&gt;&#10;          &lt;Text style={{ fontSize: 14, color: '#5E6E66' }}&gt;10 / 11&lt;/Text&gt;&#10;        &lt;/Box&gt;&#10;      &lt;/Box&gt;&#10;    );&#10;  })()}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9F6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85800" y="495300"/>
            <a:ext cx="1082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2E9E6F"/>
                </a:solidFill>
                <a:latin typeface="Microsoft YaHei"/>
                <a:ea typeface="Microsoft YaHei"/>
              </a:rPr>
              <a:t>三方案摆一起看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85800" y="657225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2B24"/>
                </a:solidFill>
                <a:latin typeface="Microsoft YaHei"/>
                <a:ea typeface="Microsoft YaHei"/>
              </a:rPr>
              <a:t>对比</a:t>
            </a:r>
            <a:r>
              <a:rPr lang="en-US" sz="2550" b="1">
                <a:solidFill>
                  <a:srgbClr val="1E2B24"/>
                </a:solidFill>
                <a:latin typeface="Microsoft YaHei"/>
                <a:ea typeface="Microsoft YaHei"/>
              </a:rPr>
              <a:t> + </a:t>
            </a:r>
            <a:r>
              <a:rPr lang="zh-CN" sz="2550" b="1">
                <a:solidFill>
                  <a:srgbClr val="1E2B24"/>
                </a:solidFill>
                <a:latin typeface="Microsoft YaHei"/>
                <a:ea typeface="Microsoft YaHei"/>
              </a:rPr>
              <a:t>我的建议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685800" y="1819275"/>
            <a:ext cx="2095500" cy="466725"/>
          </a:xfrm>
          <a:prstGeom prst="roundRect">
            <a:avLst>
              <a:gd name="adj" fmla="val 20408"/>
            </a:avLst>
          </a:prstGeom>
          <a:solidFill>
            <a:srgbClr val="2E9E6F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1571625" y="1952625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维度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2895600" y="1819275"/>
            <a:ext cx="2790825" cy="466725"/>
          </a:xfrm>
          <a:prstGeom prst="roundRect">
            <a:avLst>
              <a:gd name="adj" fmla="val 20408"/>
            </a:avLst>
          </a:prstGeom>
          <a:solidFill>
            <a:srgbClr val="2E9E6F">
              <a:alpha val="12000"/>
            </a:srgbClr>
          </a:solidFill>
          <a:ln w="19050">
            <a:solidFill>
              <a:srgbClr val="2E9E6F"/>
            </a:solidFill>
            <a:prstDash val="solid"/>
          </a:ln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3819525" y="1952625"/>
            <a:ext cx="952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E9E6F"/>
                </a:solidFill>
                <a:latin typeface="Microsoft YaHei"/>
                <a:ea typeface="Microsoft YaHei"/>
              </a:rPr>
              <a:t>A · </a:t>
            </a:r>
            <a:r>
              <a:rPr lang="zh-CN" sz="1275" b="1">
                <a:solidFill>
                  <a:srgbClr val="2E9E6F"/>
                </a:solidFill>
                <a:latin typeface="Microsoft YaHei"/>
                <a:ea typeface="Microsoft YaHei"/>
              </a:rPr>
              <a:t>底部</a:t>
            </a:r>
            <a:r>
              <a:rPr lang="en-US" sz="1275" b="1">
                <a:solidFill>
                  <a:srgbClr val="2E9E6F"/>
                </a:solidFill>
                <a:latin typeface="Microsoft YaHei"/>
                <a:ea typeface="Microsoft YaHei"/>
              </a:rPr>
              <a:t> Tab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5800725" y="1819275"/>
            <a:ext cx="2800350" cy="466725"/>
          </a:xfrm>
          <a:prstGeom prst="roundRect">
            <a:avLst>
              <a:gd name="adj" fmla="val 20408"/>
            </a:avLst>
          </a:prstGeom>
          <a:solidFill>
            <a:srgbClr val="E3EFE8"/>
          </a:solidFill>
          <a:ln w="12700">
            <a:solidFill>
              <a:srgbClr val="CFE0D6"/>
            </a:solidFill>
            <a:prstDash val="solid"/>
          </a:ln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762750" y="1952625"/>
            <a:ext cx="885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E2B24"/>
                </a:solidFill>
                <a:latin typeface="Microsoft YaHei"/>
                <a:ea typeface="Microsoft YaHei"/>
              </a:rPr>
              <a:t>B · </a:t>
            </a:r>
            <a:r>
              <a:rPr lang="zh-CN" sz="1275">
                <a:solidFill>
                  <a:srgbClr val="1E2B24"/>
                </a:solidFill>
                <a:latin typeface="Microsoft YaHei"/>
                <a:ea typeface="Microsoft YaHei"/>
              </a:rPr>
              <a:t>上滑抽屉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8715375" y="1819275"/>
            <a:ext cx="2790825" cy="466725"/>
          </a:xfrm>
          <a:prstGeom prst="roundRect">
            <a:avLst>
              <a:gd name="adj" fmla="val 20408"/>
            </a:avLst>
          </a:prstGeom>
          <a:solidFill>
            <a:srgbClr val="E3EFE8"/>
          </a:solidFill>
          <a:ln w="12700">
            <a:solidFill>
              <a:srgbClr val="CFE0D6"/>
            </a:solidFill>
            <a:prstDash val="solid"/>
          </a:ln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9744075" y="1952625"/>
            <a:ext cx="733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E2B24"/>
                </a:solidFill>
                <a:latin typeface="Microsoft YaHei"/>
                <a:ea typeface="Microsoft YaHei"/>
              </a:rPr>
              <a:t>C · </a:t>
            </a:r>
            <a:r>
              <a:rPr lang="zh-CN" sz="1275">
                <a:solidFill>
                  <a:srgbClr val="1E2B24"/>
                </a:solidFill>
                <a:latin typeface="Microsoft YaHei"/>
                <a:ea typeface="Microsoft YaHei"/>
              </a:rPr>
              <a:t>双形态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685800" y="2400300"/>
            <a:ext cx="2095500" cy="466725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CFE0D6"/>
            </a:solidFill>
            <a:prstDash val="solid"/>
          </a:ln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1409700" y="25336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2B24"/>
                </a:solidFill>
                <a:latin typeface="Microsoft YaHei"/>
                <a:ea typeface="Microsoft YaHei"/>
              </a:rPr>
              <a:t>单手好点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2895600" y="2400300"/>
            <a:ext cx="2790825" cy="466725"/>
          </a:xfrm>
          <a:prstGeom prst="roundRect">
            <a:avLst>
              <a:gd name="adj" fmla="val 20408"/>
            </a:avLst>
          </a:prstGeom>
          <a:solidFill>
            <a:srgbClr val="2E9E6F">
              <a:alpha val="12000"/>
            </a:srgbClr>
          </a:solidFill>
          <a:ln w="19050">
            <a:solidFill>
              <a:srgbClr val="2E9E6F"/>
            </a:solidFill>
            <a:prstDash val="solid"/>
          </a:ln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4210050" y="2533650"/>
            <a:ext cx="161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E9E6F"/>
                </a:solidFill>
                <a:latin typeface="Microsoft YaHei"/>
                <a:ea typeface="Microsoft YaHei"/>
              </a:rPr>
              <a:t>优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5800725" y="2400300"/>
            <a:ext cx="2800350" cy="466725"/>
          </a:xfrm>
          <a:prstGeom prst="roundRect">
            <a:avLst>
              <a:gd name="adj" fmla="val 20408"/>
            </a:avLst>
          </a:prstGeom>
          <a:solidFill>
            <a:srgbClr val="E3EFE8"/>
          </a:solidFill>
          <a:ln w="12700">
            <a:solidFill>
              <a:srgbClr val="CFE0D6"/>
            </a:solidFill>
            <a:prstDash val="solid"/>
          </a:ln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7124700" y="2533650"/>
            <a:ext cx="161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E2B24"/>
                </a:solidFill>
                <a:latin typeface="Microsoft YaHei"/>
                <a:ea typeface="Microsoft YaHei"/>
              </a:rPr>
              <a:t>中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8715375" y="2400300"/>
            <a:ext cx="2790825" cy="466725"/>
          </a:xfrm>
          <a:prstGeom prst="roundRect">
            <a:avLst>
              <a:gd name="adj" fmla="val 20408"/>
            </a:avLst>
          </a:prstGeom>
          <a:solidFill>
            <a:srgbClr val="E3EFE8"/>
          </a:solidFill>
          <a:ln w="12700">
            <a:solidFill>
              <a:srgbClr val="CFE0D6"/>
            </a:solidFill>
            <a:prstDash val="solid"/>
          </a:ln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9705975" y="2533650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E2B24"/>
                </a:solidFill>
                <a:latin typeface="Microsoft YaHei"/>
                <a:ea typeface="Microsoft YaHei"/>
              </a:rPr>
              <a:t>优（手机）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685800" y="2981325"/>
            <a:ext cx="2095500" cy="466725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CFE0D6"/>
            </a:solidFill>
            <a:prstDash val="solid"/>
          </a:ln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1409700" y="311467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2B24"/>
                </a:solidFill>
                <a:latin typeface="Microsoft YaHei"/>
                <a:ea typeface="Microsoft YaHei"/>
              </a:rPr>
              <a:t>聊天沉浸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2895600" y="2981325"/>
            <a:ext cx="2790825" cy="466725"/>
          </a:xfrm>
          <a:prstGeom prst="roundRect">
            <a:avLst>
              <a:gd name="adj" fmla="val 20408"/>
            </a:avLst>
          </a:prstGeom>
          <a:solidFill>
            <a:srgbClr val="2E9E6F">
              <a:alpha val="12000"/>
            </a:srgbClr>
          </a:solidFill>
          <a:ln w="19050">
            <a:solidFill>
              <a:srgbClr val="2E9E6F"/>
            </a:solidFill>
            <a:prstDash val="solid"/>
          </a:ln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4210050" y="3114675"/>
            <a:ext cx="161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E9E6F"/>
                </a:solidFill>
                <a:latin typeface="Microsoft YaHei"/>
                <a:ea typeface="Microsoft YaHei"/>
              </a:rPr>
              <a:t>中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5800725" y="2981325"/>
            <a:ext cx="2800350" cy="466725"/>
          </a:xfrm>
          <a:prstGeom prst="roundRect">
            <a:avLst>
              <a:gd name="adj" fmla="val 20408"/>
            </a:avLst>
          </a:prstGeom>
          <a:solidFill>
            <a:srgbClr val="E3EFE8"/>
          </a:solidFill>
          <a:ln w="12700">
            <a:solidFill>
              <a:srgbClr val="CFE0D6"/>
            </a:solidFill>
            <a:prstDash val="solid"/>
          </a:ln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124700" y="3114675"/>
            <a:ext cx="161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E2B24"/>
                </a:solidFill>
                <a:latin typeface="Microsoft YaHei"/>
                <a:ea typeface="Microsoft YaHei"/>
              </a:rPr>
              <a:t>优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8715375" y="2981325"/>
            <a:ext cx="2790825" cy="466725"/>
          </a:xfrm>
          <a:prstGeom prst="roundRect">
            <a:avLst>
              <a:gd name="adj" fmla="val 20408"/>
            </a:avLst>
          </a:prstGeom>
          <a:solidFill>
            <a:srgbClr val="E3EFE8"/>
          </a:solidFill>
          <a:ln w="12700">
            <a:solidFill>
              <a:srgbClr val="CFE0D6"/>
            </a:solidFill>
            <a:prstDash val="solid"/>
          </a:ln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0029825" y="3114675"/>
            <a:ext cx="161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E2B24"/>
                </a:solidFill>
                <a:latin typeface="Microsoft YaHei"/>
                <a:ea typeface="Microsoft YaHei"/>
              </a:rPr>
              <a:t>中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685800" y="3562350"/>
            <a:ext cx="2095500" cy="466725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CFE0D6"/>
            </a:solidFill>
            <a:prstDash val="solid"/>
          </a:ln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409700" y="36957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2B24"/>
                </a:solidFill>
                <a:latin typeface="Microsoft YaHei"/>
                <a:ea typeface="Microsoft YaHei"/>
              </a:rPr>
              <a:t>实现成本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2895600" y="3562350"/>
            <a:ext cx="2790825" cy="466725"/>
          </a:xfrm>
          <a:prstGeom prst="roundRect">
            <a:avLst>
              <a:gd name="adj" fmla="val 20408"/>
            </a:avLst>
          </a:prstGeom>
          <a:solidFill>
            <a:srgbClr val="2E9E6F">
              <a:alpha val="12000"/>
            </a:srgbClr>
          </a:solidFill>
          <a:ln w="19050">
            <a:solidFill>
              <a:srgbClr val="2E9E6F"/>
            </a:solidFill>
            <a:prstDash val="solid"/>
          </a:ln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4210050" y="3695700"/>
            <a:ext cx="161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E9E6F"/>
                </a:solidFill>
                <a:latin typeface="Microsoft YaHei"/>
                <a:ea typeface="Microsoft YaHei"/>
              </a:rPr>
              <a:t>低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5800725" y="3562350"/>
            <a:ext cx="2800350" cy="466725"/>
          </a:xfrm>
          <a:prstGeom prst="roundRect">
            <a:avLst>
              <a:gd name="adj" fmla="val 20408"/>
            </a:avLst>
          </a:prstGeom>
          <a:solidFill>
            <a:srgbClr val="E3EFE8"/>
          </a:solidFill>
          <a:ln w="12700">
            <a:solidFill>
              <a:srgbClr val="CFE0D6"/>
            </a:solidFill>
            <a:prstDash val="solid"/>
          </a:ln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124700" y="3695700"/>
            <a:ext cx="161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E2B24"/>
                </a:solidFill>
                <a:latin typeface="Microsoft YaHei"/>
                <a:ea typeface="Microsoft YaHei"/>
              </a:rPr>
              <a:t>中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8715375" y="3562350"/>
            <a:ext cx="2790825" cy="466725"/>
          </a:xfrm>
          <a:prstGeom prst="roundRect">
            <a:avLst>
              <a:gd name="adj" fmla="val 20408"/>
            </a:avLst>
          </a:prstGeom>
          <a:solidFill>
            <a:srgbClr val="E3EFE8"/>
          </a:solidFill>
          <a:ln w="12700">
            <a:solidFill>
              <a:srgbClr val="CFE0D6"/>
            </a:solidFill>
            <a:prstDash val="solid"/>
          </a:ln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0029825" y="3695700"/>
            <a:ext cx="161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E2B24"/>
                </a:solidFill>
                <a:latin typeface="Microsoft YaHei"/>
                <a:ea typeface="Microsoft YaHei"/>
              </a:rPr>
              <a:t>高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685800" y="4143375"/>
            <a:ext cx="2095500" cy="466725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CFE0D6"/>
            </a:solidFill>
            <a:prstDash val="solid"/>
          </a:ln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495425" y="4276725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2B24"/>
                </a:solidFill>
                <a:latin typeface="Microsoft YaHei"/>
                <a:ea typeface="Microsoft YaHei"/>
              </a:rPr>
              <a:t>适合谁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2895600" y="4143375"/>
            <a:ext cx="2790825" cy="466725"/>
          </a:xfrm>
          <a:prstGeom prst="roundRect">
            <a:avLst>
              <a:gd name="adj" fmla="val 20408"/>
            </a:avLst>
          </a:prstGeom>
          <a:solidFill>
            <a:srgbClr val="2E9E6F">
              <a:alpha val="12000"/>
            </a:srgbClr>
          </a:solidFill>
          <a:ln w="19050">
            <a:solidFill>
              <a:srgbClr val="2E9E6F"/>
            </a:solidFill>
            <a:prstDash val="solid"/>
          </a:ln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4133850" y="4276725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E9E6F"/>
                </a:solidFill>
                <a:latin typeface="Microsoft YaHei"/>
                <a:ea typeface="Microsoft YaHei"/>
              </a:rPr>
              <a:t>大众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5800725" y="4143375"/>
            <a:ext cx="2800350" cy="466725"/>
          </a:xfrm>
          <a:prstGeom prst="roundRect">
            <a:avLst>
              <a:gd name="adj" fmla="val 20408"/>
            </a:avLst>
          </a:prstGeom>
          <a:solidFill>
            <a:srgbClr val="E3EFE8"/>
          </a:solidFill>
          <a:ln w="12700">
            <a:solidFill>
              <a:srgbClr val="CFE0D6"/>
            </a:solidFill>
            <a:prstDash val="solid"/>
          </a:ln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6962775" y="4276725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E2B24"/>
                </a:solidFill>
                <a:latin typeface="Microsoft YaHei"/>
                <a:ea typeface="Microsoft YaHei"/>
              </a:rPr>
              <a:t>极简党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8715375" y="4143375"/>
            <a:ext cx="2790825" cy="466725"/>
          </a:xfrm>
          <a:prstGeom prst="roundRect">
            <a:avLst>
              <a:gd name="adj" fmla="val 20408"/>
            </a:avLst>
          </a:prstGeom>
          <a:solidFill>
            <a:srgbClr val="E3EFE8"/>
          </a:solidFill>
          <a:ln w="12700">
            <a:solidFill>
              <a:srgbClr val="CFE0D6"/>
            </a:solidFill>
            <a:prstDash val="solid"/>
          </a:ln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9791700" y="427672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E2B24"/>
                </a:solidFill>
                <a:latin typeface="Microsoft YaHei"/>
                <a:ea typeface="Microsoft YaHei"/>
              </a:rPr>
              <a:t>常坐电脑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685800" y="4781550"/>
            <a:ext cx="10820400" cy="638175"/>
          </a:xfrm>
          <a:prstGeom prst="roundRect">
            <a:avLst>
              <a:gd name="adj" fmla="val 17910"/>
            </a:avLst>
          </a:prstGeom>
          <a:solidFill>
            <a:srgbClr val="2E9E6F">
              <a:alpha val="12000"/>
            </a:srgbClr>
          </a:solidFill>
          <a:ln w="19050">
            <a:solidFill>
              <a:srgbClr val="2E9E6F"/>
            </a:solidFill>
            <a:prstDash val="solid"/>
          </a:ln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895350" y="499110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E9E6F"/>
                </a:solidFill>
                <a:latin typeface="Microsoft YaHei"/>
                <a:ea typeface="Microsoft YaHei"/>
              </a:rPr>
              <a:t>我的建议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771650" y="4933950"/>
            <a:ext cx="58674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E2B24"/>
                </a:solidFill>
                <a:latin typeface="Microsoft YaHei"/>
                <a:ea typeface="Microsoft YaHei"/>
              </a:rPr>
              <a:t>先做</a:t>
            </a:r>
            <a:r>
              <a:rPr lang="en-US" sz="1425">
                <a:solidFill>
                  <a:srgbClr val="1E2B24"/>
                </a:solidFill>
                <a:latin typeface="Microsoft YaHei"/>
                <a:ea typeface="Microsoft YaHei"/>
              </a:rPr>
              <a:t> A</a:t>
            </a:r>
            <a:r>
              <a:rPr lang="zh-CN" sz="1425">
                <a:solidFill>
                  <a:srgbClr val="1E2B24"/>
                </a:solidFill>
                <a:latin typeface="Microsoft YaHei"/>
                <a:ea typeface="Microsoft YaHei"/>
              </a:rPr>
              <a:t>（底部</a:t>
            </a:r>
            <a:r>
              <a:rPr lang="en-US" sz="1425">
                <a:solidFill>
                  <a:srgbClr val="1E2B24"/>
                </a:solidFill>
                <a:latin typeface="Microsoft YaHei"/>
                <a:ea typeface="Microsoft YaHei"/>
              </a:rPr>
              <a:t> Tab</a:t>
            </a:r>
            <a:r>
              <a:rPr lang="zh-CN" sz="1425">
                <a:solidFill>
                  <a:srgbClr val="1E2B24"/>
                </a:solidFill>
                <a:latin typeface="Microsoft YaHei"/>
                <a:ea typeface="Microsoft YaHei"/>
              </a:rPr>
              <a:t>）——最稳、最像常用</a:t>
            </a:r>
            <a:r>
              <a:rPr lang="en-US" sz="1425">
                <a:solidFill>
                  <a:srgbClr val="1E2B24"/>
                </a:solidFill>
                <a:latin typeface="Microsoft YaHei"/>
                <a:ea typeface="Microsoft YaHei"/>
              </a:rPr>
              <a:t> App</a:t>
            </a:r>
            <a:r>
              <a:rPr lang="zh-CN" sz="1425">
                <a:solidFill>
                  <a:srgbClr val="1E2B24"/>
                </a:solidFill>
                <a:latin typeface="Microsoft YaHei"/>
                <a:ea typeface="Microsoft YaHei"/>
              </a:rPr>
              <a:t>；</a:t>
            </a:r>
            <a:r>
              <a:rPr lang="en-US" sz="1425">
                <a:solidFill>
                  <a:srgbClr val="1E2B24"/>
                </a:solidFill>
                <a:latin typeface="Microsoft YaHei"/>
                <a:ea typeface="Microsoft YaHei"/>
              </a:rPr>
              <a:t>B/C </a:t>
            </a:r>
            <a:r>
              <a:rPr lang="zh-CN" sz="1425">
                <a:solidFill>
                  <a:srgbClr val="1E2B24"/>
                </a:solidFill>
                <a:latin typeface="Microsoft YaHei"/>
                <a:ea typeface="Microsoft YaHei"/>
              </a:rPr>
              <a:t>等你用顺了再考虑。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85800" y="640080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6E66"/>
                </a:solidFill>
                <a:latin typeface="Microsoft YaHei"/>
                <a:ea typeface="Microsoft YaHei"/>
              </a:rPr>
              <a:t>DEAR </a:t>
            </a:r>
            <a:r>
              <a:rPr lang="zh-CN" sz="1050">
                <a:solidFill>
                  <a:srgbClr val="5E6E66"/>
                </a:solidFill>
                <a:latin typeface="Microsoft YaHei"/>
                <a:ea typeface="Microsoft YaHei"/>
              </a:rPr>
              <a:t>功能页布局方案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110490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6E66"/>
                </a:solidFill>
                <a:latin typeface="Microsoft YaHei"/>
                <a:ea typeface="Microsoft YaHei"/>
              </a:rPr>
              <a:t>10 / 11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62" name="" descr="&lt;Slide style={{ width: '1280px', height: '720px', background: '#F5F9F6' }}&gt;&#10;  &lt;Box style={{ height: '100%', flexDirection: 'column', alignItems: 'center', justifyContent: 'center', padding: '40px 110px' }}&gt;&#10;    &lt;Text style={{ fontSize: 44, fontWeight: 'bold', color: '#1E2B24', textAlign: 'center' }}&gt;所以，放心——不用推倒重来&lt;/Text&gt;&#10;    &lt;Text style={{ fontSize: 21, color: '#5E6E66', marginTop: 16, textAlign: 'center', lineHeight: 1.6 }}&gt;&#10;      先按 A 方案把「浮层逻辑」修好，剩下的照着视觉规矩慢慢填。&#10;    &lt;/Text&gt;&#10;&#10;    &lt;Box style={{ flexDirection: 'row', gap: 22, marginTop: 40, width: '100%' }}&gt;&#10;      &lt;Box style={{ flex: 1, flexDirection: 'column', alignItems: 'center', background: '#E3EFE8', borderRadius: 16, padding: '24px 20px' }}&gt;&#10;        &lt;Text style={{ fontSize: 30, fontWeight: 'bold', color: '#2E9E6F' }}&gt;①&lt;/Text&gt;&#10;        &lt;Text style={{ fontSize: 19, color: '#1E2B24', fontWeight: 'bold', marginTop: 10 }}&gt;修浮层&lt;/Text&gt;&#10;        &lt;Text style={{ fontSize: 16, color: '#5E6E66', textAlign: 'center', marginTop: 8, lineHeight: 1.5 }}&gt;落实「回家四法」，掀开不叠、关得掉。&lt;/Text&gt;&#10;      &lt;/Box&gt;&#10;      &lt;Box style={{ flex: 1, flexDirection: 'column', alignItems: 'center', background: '#E3EFE8', borderRadius: 16, padding: '24px 20px' }}&gt;&#10;        &lt;Text style={{ fontSize: 30, fontWeight: 'bold', color: '#2E9E6F' }}&gt;②&lt;/Text&gt;&#10;        &lt;Text style={{ fontSize: 19, color: '#1E2B24', fontWeight: 'bold', marginTop: 10 }}&gt;摆 Tab&lt;/Text&gt;&#10;        &lt;Text style={{ fontSize: 16, color: '#5E6E66', textAlign: 'center', marginTop: 8, lineHeight: 1.5 }}&gt;底部一排 Tab，把 9 个功能放上去。&lt;/Text&gt;&#10;      &lt;/Box&gt;&#10;      &lt;Box style={{ flex: 1, flexDirection: 'column', alignItems: 'center', background: '#E3EFE8', borderRadius: 16, padding: '24px 20px' }}&gt;&#10;        &lt;Text style={{ fontSize: 30, fontWeight: 'bold', color: '#2E9E6F' }}&gt;③&lt;/Text&gt;&#10;        &lt;Text style={{ fontSize: 19, color: '#1E2B24', fontWeight: 'bold', marginTop: 10 }}&gt;填空格&lt;/Text&gt;&#10;        &lt;Text style={{ fontSize: 16, color: '#5E6E66', textAlign: 'center', marginTop: 8, lineHeight: 1.5 }}&gt;照颜色/字号规矩，把每个页做对。&lt;/Text&gt;&#10;      &lt;/Box&gt;&#10;    &lt;/Box&gt;&#10;&#10;    &lt;Box style={{ flexDirection: 'row', alignItems: 'center', gap: 12, marginTop: 44 }}&gt;&#10;      &lt;Box style={{ width: 34, height: 34, borderRadius: 999, background: '#2E9E6F', alignItems: 'center', justifyContent: 'center' }}&gt;&#10;        &lt;Text style={{ color: '#fff', fontSize: 16, fontWeight: 'bold' }}&gt;连&lt;/Text&gt;&#10;      &lt;/Box&gt;&#10;      &lt;Text style={{ fontSize: 17, color: '#5E6E66' }}&gt;镜音连 · 哪页想改，随时喊我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9F6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3333750" y="1609725"/>
            <a:ext cx="5524500" cy="504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3300" b="1">
                <a:solidFill>
                  <a:srgbClr val="1E2B24"/>
                </a:solidFill>
                <a:latin typeface="Microsoft YaHei"/>
                <a:ea typeface="Microsoft YaHei"/>
              </a:rPr>
              <a:t>所以，放心——不用推倒重来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3267075" y="2266950"/>
            <a:ext cx="5667375" cy="39052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1575">
                <a:solidFill>
                  <a:srgbClr val="5E6E66"/>
                </a:solidFill>
                <a:latin typeface="Microsoft YaHei"/>
                <a:ea typeface="Microsoft YaHei"/>
              </a:rPr>
              <a:t>先按</a:t>
            </a:r>
            <a:r>
              <a:rPr lang="en-US" sz="1575">
                <a:solidFill>
                  <a:srgbClr val="5E6E66"/>
                </a:solidFill>
                <a:latin typeface="Microsoft YaHei"/>
                <a:ea typeface="Microsoft YaHei"/>
              </a:rPr>
              <a:t> A </a:t>
            </a:r>
            <a:r>
              <a:rPr lang="zh-CN" sz="1575">
                <a:solidFill>
                  <a:srgbClr val="5E6E66"/>
                </a:solidFill>
                <a:latin typeface="Microsoft YaHei"/>
                <a:ea typeface="Microsoft YaHei"/>
              </a:rPr>
              <a:t>方案把「浮层逻辑」修好，剩下的照着视觉规矩慢慢填。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1047750" y="3038475"/>
            <a:ext cx="3228975" cy="1466850"/>
          </a:xfrm>
          <a:prstGeom prst="roundRect">
            <a:avLst>
              <a:gd name="adj" fmla="val 10390"/>
            </a:avLst>
          </a:prstGeom>
          <a:solidFill>
            <a:srgbClr val="E3EFE8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2524125" y="3267075"/>
            <a:ext cx="285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2E9E6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2390775" y="3705225"/>
            <a:ext cx="542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2B24"/>
                </a:solidFill>
                <a:latin typeface="Microsoft YaHei"/>
                <a:ea typeface="Microsoft YaHei"/>
              </a:rPr>
              <a:t>修浮层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1295400" y="4000500"/>
            <a:ext cx="2743200" cy="27622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200">
                <a:solidFill>
                  <a:srgbClr val="5E6E66"/>
                </a:solidFill>
                <a:latin typeface="Microsoft YaHei"/>
                <a:ea typeface="Microsoft YaHei"/>
              </a:rPr>
              <a:t>落实「回家四法」，掀开不叠、关得掉。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4486275" y="3038475"/>
            <a:ext cx="3219450" cy="1466850"/>
          </a:xfrm>
          <a:prstGeom prst="roundRect">
            <a:avLst>
              <a:gd name="adj" fmla="val 10390"/>
            </a:avLst>
          </a:prstGeom>
          <a:solidFill>
            <a:srgbClr val="E3EFE8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5953125" y="3267075"/>
            <a:ext cx="285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2E9E6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5819775" y="3705225"/>
            <a:ext cx="561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2B24"/>
                </a:solidFill>
                <a:latin typeface="Microsoft YaHei"/>
                <a:ea typeface="Microsoft YaHei"/>
              </a:rPr>
              <a:t>摆</a:t>
            </a:r>
            <a:r>
              <a:rPr lang="en-US" sz="1425" b="1">
                <a:solidFill>
                  <a:srgbClr val="1E2B24"/>
                </a:solidFill>
                <a:latin typeface="Microsoft YaHei"/>
                <a:ea typeface="Microsoft YaHei"/>
              </a:rPr>
              <a:t> Tab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4867275" y="4000500"/>
            <a:ext cx="2457450" cy="27622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200">
                <a:solidFill>
                  <a:srgbClr val="5E6E66"/>
                </a:solidFill>
                <a:latin typeface="Microsoft YaHei"/>
                <a:ea typeface="Microsoft YaHei"/>
              </a:rPr>
              <a:t>底部一排</a:t>
            </a:r>
            <a:r>
              <a:rPr lang="en-US" sz="1200">
                <a:solidFill>
                  <a:srgbClr val="5E6E66"/>
                </a:solidFill>
                <a:latin typeface="Microsoft YaHei"/>
                <a:ea typeface="Microsoft YaHei"/>
              </a:rPr>
              <a:t> Tab</a:t>
            </a:r>
            <a:r>
              <a:rPr lang="zh-CN" sz="1200">
                <a:solidFill>
                  <a:srgbClr val="5E6E66"/>
                </a:solidFill>
                <a:latin typeface="Microsoft YaHei"/>
                <a:ea typeface="Microsoft YaHei"/>
              </a:rPr>
              <a:t>，把</a:t>
            </a:r>
            <a:r>
              <a:rPr lang="en-US" sz="1200">
                <a:solidFill>
                  <a:srgbClr val="5E6E66"/>
                </a:solidFill>
                <a:latin typeface="Microsoft YaHei"/>
                <a:ea typeface="Microsoft YaHei"/>
              </a:rPr>
              <a:t> 9 </a:t>
            </a:r>
            <a:r>
              <a:rPr lang="zh-CN" sz="1200">
                <a:solidFill>
                  <a:srgbClr val="5E6E66"/>
                </a:solidFill>
                <a:latin typeface="Microsoft YaHei"/>
                <a:ea typeface="Microsoft YaHei"/>
              </a:rPr>
              <a:t>个功能放上去。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7915275" y="3038475"/>
            <a:ext cx="3228975" cy="1466850"/>
          </a:xfrm>
          <a:prstGeom prst="roundRect">
            <a:avLst>
              <a:gd name="adj" fmla="val 10390"/>
            </a:avLst>
          </a:prstGeom>
          <a:solidFill>
            <a:srgbClr val="E3EFE8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9391650" y="3267075"/>
            <a:ext cx="285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2E9E6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9258300" y="3705225"/>
            <a:ext cx="542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2B24"/>
                </a:solidFill>
                <a:latin typeface="Microsoft YaHei"/>
                <a:ea typeface="Microsoft YaHei"/>
              </a:rPr>
              <a:t>填空格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353425" y="4000500"/>
            <a:ext cx="2352675" cy="27622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200">
                <a:solidFill>
                  <a:srgbClr val="5E6E66"/>
                </a:solidFill>
                <a:latin typeface="Microsoft YaHei"/>
                <a:ea typeface="Microsoft YaHei"/>
              </a:rPr>
              <a:t>照颜色</a:t>
            </a:r>
            <a:r>
              <a:rPr lang="en-US" sz="1200">
                <a:solidFill>
                  <a:srgbClr val="5E6E66"/>
                </a:solidFill>
                <a:latin typeface="Microsoft YaHei"/>
                <a:ea typeface="Microsoft YaHei"/>
              </a:rPr>
              <a:t>/</a:t>
            </a:r>
            <a:r>
              <a:rPr lang="zh-CN" sz="1200">
                <a:solidFill>
                  <a:srgbClr val="5E6E66"/>
                </a:solidFill>
                <a:latin typeface="Microsoft YaHei"/>
                <a:ea typeface="Microsoft YaHei"/>
              </a:rPr>
              <a:t>字号规矩，把每个页做对。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4838700" y="4924425"/>
            <a:ext cx="323850" cy="323850"/>
          </a:xfrm>
          <a:prstGeom prst="roundRect">
            <a:avLst>
              <a:gd name="adj" fmla="val 2938235"/>
            </a:avLst>
          </a:prstGeom>
          <a:solidFill>
            <a:srgbClr val="2E9E6F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4924425" y="4991100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连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5276850" y="4991100"/>
            <a:ext cx="2085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E6E66"/>
                </a:solidFill>
                <a:latin typeface="Microsoft YaHei"/>
                <a:ea typeface="Microsoft YaHei"/>
              </a:rPr>
              <a:t>镜音连</a:t>
            </a:r>
            <a:r>
              <a:rPr lang="en-US" sz="1275">
                <a:solidFill>
                  <a:srgbClr val="5E6E66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5E6E66"/>
                </a:solidFill>
                <a:latin typeface="Microsoft YaHei"/>
                <a:ea typeface="Microsoft YaHei"/>
              </a:rPr>
              <a:t>哪页想改，随时喊我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2026-08-31T15:40:31Z</dcterms:created>
  <dcterms:modified xsi:type="dcterms:W3CDTF">2026-08-31T15:40:31Z</dcterms:modified>
</cp:coreProperties>
</file>